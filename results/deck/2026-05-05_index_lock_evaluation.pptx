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68"/>
  </p:normalViewPr>
  <p:slideViewPr>
    <p:cSldViewPr snapToGrid="0" snapToObjects="1">
      <p:cViewPr varScale="1">
        <p:scale>
          <a:sx n="126" d="100"/>
          <a:sy n="126" d="100"/>
        </p:scale>
        <p:origin x="232" y="2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F3A5F"/>
                </a:solidFill>
              </a:rPr>
              <a:t>Index lock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55555"/>
                </a:solidFill>
              </a:rPr>
              <a:t>How lock primitive choice changes throughput inside three concurrent indexes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555555"/>
                </a:solidFill>
              </a:rPr>
              <a:t>Cross architecture: AWS Graviton (ARM) and Intel Xeon (x86)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01010"/>
                </a:solidFill>
              </a:rPr>
              <a:t>Andrei Pana</a:t>
            </a:r>
          </a:p>
          <a:p>
            <a:pPr algn="ctr"/>
            <a:r>
              <a:rPr sz="1400" b="0">
                <a:solidFill>
                  <a:srgbClr val="101010"/>
                </a:solidFill>
              </a:rPr>
              <a:t>Research project review</a:t>
            </a:r>
          </a:p>
          <a:p>
            <a:pPr algn="ctr"/>
            <a:r>
              <a:rPr sz="1400" b="0">
                <a:solidFill>
                  <a:srgbClr val="101010"/>
                </a:solidFill>
              </a:rPr>
              <a:t>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What this project is about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01010"/>
                </a:solidFill>
              </a:rPr>
              <a:t>The goal is to see how different lock primitives perform inside three concurrent indexes,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and whether the answer changes when you move from x86 (Intel Xeon) to ARM (AWS Graviton).</a:t>
            </a:r>
          </a:p>
          <a:p>
            <a:pPr algn="l"/>
            <a:endParaRPr sz="1500" b="0">
              <a:solidFill>
                <a:srgbClr val="101010"/>
              </a:solidFill>
            </a:endParaRPr>
          </a:p>
          <a:p>
            <a:pPr algn="l"/>
            <a:r>
              <a:rPr sz="1500" b="0">
                <a:solidFill>
                  <a:srgbClr val="101010"/>
                </a:solidFill>
              </a:rPr>
              <a:t>The three indexes used: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   1. libcds StripedMap. Hash table with N stripes, one lock per stripe.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   2. libcds BronsonAVL. Lock based AVL tree with one monitor lock per node.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   3. Wormhole (Wu et al., FAST 2019). Hybrid trie plus hash plus linked list.</a:t>
            </a:r>
          </a:p>
          <a:p>
            <a:pPr algn="l"/>
            <a:endParaRPr sz="1500" b="0">
              <a:solidFill>
                <a:srgbClr val="101010"/>
              </a:solidFill>
            </a:endParaRPr>
          </a:p>
          <a:p>
            <a:pPr algn="l"/>
            <a:r>
              <a:rPr sz="1500" b="0">
                <a:solidFill>
                  <a:srgbClr val="101010"/>
                </a:solidFill>
              </a:rPr>
              <a:t>Lock primitives compared: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   StripedMap and BronsonAVL: std::mutex, tas, ttas, cas, ticket.</a:t>
            </a:r>
          </a:p>
          <a:p>
            <a:pPr algn="l"/>
            <a:r>
              <a:rPr sz="1500" b="0">
                <a:solidFill>
                  <a:srgbClr val="101010"/>
                </a:solidFill>
              </a:rPr>
              <a:t>   Wormhole: default (upstream untouched), rw, tas, ttas, cas, occ, occ-opt.</a:t>
            </a:r>
          </a:p>
          <a:p>
            <a:pPr algn="l"/>
            <a:endParaRPr sz="1500" b="0">
              <a:solidFill>
                <a:srgbClr val="101010"/>
              </a:solidFill>
            </a:endParaRPr>
          </a:p>
          <a:p>
            <a:pPr algn="l"/>
            <a:r>
              <a:rPr sz="1500" b="0">
                <a:solidFill>
                  <a:srgbClr val="101010"/>
                </a:solidFill>
              </a:rPr>
              <a:t>The headline question: does the same lock win across architectures, or does it shift?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Setup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11064240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20">
                <a:tc>
                  <a:txBody>
                    <a:bodyPr/>
                    <a:lstStyle/>
                    <a:p>
                      <a:r>
                        <a:rPr sz="1300" b="1"/>
                        <a:t>Machine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Architecture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Cores in scope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Notes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300" b="0"/>
                        <a:t>AWS Graviton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ARM Neoverse N1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Hypervisor pinned vCPU clocks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r>
                        <a:rPr sz="1300" b="0"/>
                        <a:t>Intel Xeon (diascld45)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x86_64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16 (out of 48)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Capped at 16T to stay on a single socket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2834640"/>
          <a:ext cx="110642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12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r>
                        <a:rPr sz="1300" b="1"/>
                        <a:t>Workload tag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Distribution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Reads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Inserts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/>
                        <a:t>Deletes 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read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uniform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hot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zipfian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r>
                        <a:rPr sz="1300" b="0"/>
                        <a:t>write heavy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zipfian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/>
                        <a:t>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7548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</a:rPr>
              <a:t>Each run is 3 seconds of measurement after 1 second of warmup.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Thread ladder is power of 2 up to the per machine cap (1, 2, 4, 8 on Graviton; 1, 2, 4, 8, 16 on Xeon).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Every plot in this deck shows Graviton in the left panel and Xeon in the right panel for the same workload.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Below each line plot we also show a sorted bar chart at the maximum thread point so the ranking is visible at a glance.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Thread pinning details, Graviton specifics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How --pin works in the harness, and what it actually does on a c6g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33085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01010"/>
                </a:solidFill>
              </a:rPr>
              <a:t>How --pin is implemented (Linux only, in include/primitives/</a:t>
            </a:r>
            <a:r>
              <a:rPr sz="1100" b="0" dirty="0" err="1">
                <a:solidFill>
                  <a:srgbClr val="101010"/>
                </a:solidFill>
              </a:rPr>
              <a:t>util.hpp</a:t>
            </a:r>
            <a:r>
              <a:rPr sz="1100" b="0" dirty="0">
                <a:solidFill>
                  <a:srgbClr val="101010"/>
                </a:solidFill>
              </a:rPr>
              <a:t>):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</a:t>
            </a:r>
            <a:r>
              <a:rPr sz="1100" b="0" dirty="0" err="1">
                <a:solidFill>
                  <a:srgbClr val="101010"/>
                </a:solidFill>
              </a:rPr>
              <a:t>set_thread_affinity</a:t>
            </a:r>
            <a:r>
              <a:rPr sz="1100" b="0" dirty="0">
                <a:solidFill>
                  <a:srgbClr val="101010"/>
                </a:solidFill>
              </a:rPr>
              <a:t>(</a:t>
            </a:r>
            <a:r>
              <a:rPr sz="1100" b="0" dirty="0" err="1">
                <a:solidFill>
                  <a:srgbClr val="101010"/>
                </a:solidFill>
              </a:rPr>
              <a:t>thread_id</a:t>
            </a:r>
            <a:r>
              <a:rPr sz="1100" b="0" dirty="0">
                <a:solidFill>
                  <a:srgbClr val="101010"/>
                </a:solidFill>
              </a:rPr>
              <a:t>) calls </a:t>
            </a:r>
            <a:r>
              <a:rPr sz="1100" b="0" dirty="0" err="1">
                <a:solidFill>
                  <a:srgbClr val="101010"/>
                </a:solidFill>
              </a:rPr>
              <a:t>sched_setaffinity</a:t>
            </a:r>
            <a:r>
              <a:rPr sz="1100" b="0" dirty="0">
                <a:solidFill>
                  <a:srgbClr val="101010"/>
                </a:solidFill>
              </a:rPr>
              <a:t> with a </a:t>
            </a:r>
            <a:r>
              <a:rPr sz="1100" b="0" dirty="0" err="1">
                <a:solidFill>
                  <a:srgbClr val="101010"/>
                </a:solidFill>
              </a:rPr>
              <a:t>cpu_set_t</a:t>
            </a:r>
            <a:r>
              <a:rPr sz="1100" b="0" dirty="0">
                <a:solidFill>
                  <a:srgbClr val="101010"/>
                </a:solidFill>
              </a:rPr>
              <a:t> containing only that one CPU.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Threads are numbered 0, 1, 2, ..., so thread N gets pinned to logical CPU N.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Pinning is dense and sequential: a 4 thread run uses CPUs 0..3, an 8 thread run uses CPUs 0..7.</a:t>
            </a:r>
          </a:p>
          <a:p>
            <a:pPr algn="l"/>
            <a:endParaRPr sz="1100" b="0" dirty="0">
              <a:solidFill>
                <a:srgbClr val="101010"/>
              </a:solidFill>
            </a:endParaRPr>
          </a:p>
          <a:p>
            <a:pPr algn="l"/>
            <a:r>
              <a:rPr sz="1100" b="0" dirty="0">
                <a:solidFill>
                  <a:srgbClr val="101010"/>
                </a:solidFill>
              </a:rPr>
              <a:t>What that means on AWS Graviton specifically: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c6g instances run Neoverse N1 cores. Neoverse N1 does NOT support SMT, so one vCPU is one physical core.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The kernel sees CPUs 0..7 on a c6g.2xlarge, and those map 1 to 1 to physical Graviton cores.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AWS Nitro / Graviton does not migrate vCPUs across physical cores at runtime under steady load.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So </a:t>
            </a:r>
            <a:r>
              <a:rPr sz="1100" b="0" dirty="0" err="1">
                <a:solidFill>
                  <a:srgbClr val="101010"/>
                </a:solidFill>
              </a:rPr>
              <a:t>sched_setaffinity</a:t>
            </a:r>
            <a:r>
              <a:rPr sz="1100" b="0" dirty="0">
                <a:solidFill>
                  <a:srgbClr val="101010"/>
                </a:solidFill>
              </a:rPr>
              <a:t> to CPU N effectively pins to physical core N for the duration of the run.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Each pinned thread also gets a hypervisor managed clock that does not vary at runtime, which is one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reason fairness numbers on Graviton are very tight (around 0.98 across all benches).</a:t>
            </a:r>
          </a:p>
          <a:p>
            <a:pPr algn="l"/>
            <a:endParaRPr sz="1100" b="0" dirty="0">
              <a:solidFill>
                <a:srgbClr val="101010"/>
              </a:solidFill>
            </a:endParaRPr>
          </a:p>
          <a:p>
            <a:pPr algn="l"/>
            <a:r>
              <a:rPr sz="1100" b="0" dirty="0">
                <a:solidFill>
                  <a:srgbClr val="101010"/>
                </a:solidFill>
              </a:rPr>
              <a:t>Honest disclaimer about the data in this deck: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The harness has a --pin flag, but only the standalone </a:t>
            </a:r>
            <a:r>
              <a:rPr sz="1100" b="0" dirty="0" err="1">
                <a:solidFill>
                  <a:srgbClr val="101010"/>
                </a:solidFill>
              </a:rPr>
              <a:t>cds_sweep.sh</a:t>
            </a:r>
            <a:r>
              <a:rPr sz="1100" b="0" dirty="0">
                <a:solidFill>
                  <a:srgbClr val="101010"/>
                </a:solidFill>
              </a:rPr>
              <a:t> passes it. The two sweep scripts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used to produce these slides (</a:t>
            </a:r>
            <a:r>
              <a:rPr sz="1100" b="0" dirty="0" err="1">
                <a:solidFill>
                  <a:srgbClr val="101010"/>
                </a:solidFill>
              </a:rPr>
              <a:t>wh_compare.sh</a:t>
            </a:r>
            <a:r>
              <a:rPr sz="1100" b="0" dirty="0">
                <a:solidFill>
                  <a:srgbClr val="101010"/>
                </a:solidFill>
              </a:rPr>
              <a:t> and </a:t>
            </a:r>
            <a:r>
              <a:rPr sz="1100" b="0" dirty="0" err="1">
                <a:solidFill>
                  <a:srgbClr val="101010"/>
                </a:solidFill>
              </a:rPr>
              <a:t>run_avl_compare.sh</a:t>
            </a:r>
            <a:r>
              <a:rPr sz="1100" b="0" dirty="0">
                <a:solidFill>
                  <a:srgbClr val="101010"/>
                </a:solidFill>
              </a:rPr>
              <a:t>) do NOT pass --pin.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So the Wormhole, </a:t>
            </a:r>
            <a:r>
              <a:rPr sz="1100" b="0" dirty="0" err="1">
                <a:solidFill>
                  <a:srgbClr val="101010"/>
                </a:solidFill>
              </a:rPr>
              <a:t>BronsonAVL</a:t>
            </a:r>
            <a:r>
              <a:rPr sz="1100" b="0" dirty="0">
                <a:solidFill>
                  <a:srgbClr val="101010"/>
                </a:solidFill>
              </a:rPr>
              <a:t>, and </a:t>
            </a:r>
            <a:r>
              <a:rPr sz="1100" b="0" dirty="0" err="1">
                <a:solidFill>
                  <a:srgbClr val="101010"/>
                </a:solidFill>
              </a:rPr>
              <a:t>StripedMap</a:t>
            </a:r>
            <a:r>
              <a:rPr sz="1100" b="0" dirty="0">
                <a:solidFill>
                  <a:srgbClr val="101010"/>
                </a:solidFill>
              </a:rPr>
              <a:t> numbers in this deck are from UNPINNED runs.</a:t>
            </a:r>
          </a:p>
          <a:p>
            <a:pPr algn="l"/>
            <a:endParaRPr sz="1100" b="0" dirty="0">
              <a:solidFill>
                <a:srgbClr val="101010"/>
              </a:solidFill>
            </a:endParaRPr>
          </a:p>
          <a:p>
            <a:pPr algn="l"/>
            <a:r>
              <a:rPr sz="1100" b="0" dirty="0">
                <a:solidFill>
                  <a:srgbClr val="101010"/>
                </a:solidFill>
              </a:rPr>
              <a:t>On Xeon variance comes from DVFS, not from thread migration.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How we built StripedMap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Adapter at include/indexes/striped_map_index.hpp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01010"/>
                </a:solidFill>
              </a:rPr>
              <a:t>Wraps cds::container::StripedMap from libcds.</a:t>
            </a:r>
          </a:p>
          <a:p>
            <a:pPr algn="l"/>
            <a:endParaRPr sz="1400" b="0">
              <a:solidFill>
                <a:srgbClr val="101010"/>
              </a:solidFill>
            </a:endParaRPr>
          </a:p>
          <a:p>
            <a:pPr algn="l"/>
            <a:r>
              <a:rPr sz="1400" b="0">
                <a:solidFill>
                  <a:srgbClr val="101010"/>
                </a:solidFill>
              </a:rPr>
              <a:t>   Hash table with std::list buckets and a fixed array of N stripe locks.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The lock primitive is the template parameter to cds::container::striped_set::striping&lt;Lock&gt;,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so we plug any lockbench primitive (tas_lock, ttas_lock, cas_lock, ticket_lock, std::mutex) at compile time.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We use 65536 stripes. Each operation hashes the key, picks the stripe, and acquires its lock.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Resize policy is load_factor_resizing&lt;4&gt;: when item count divided by buckets exceeds 4,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the map takes ALL stripe locks (scoped_full_lock) and rehashes. We size the initial bucket array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   large enough that we do not hit a resize during a benchmark run.</a:t>
            </a:r>
          </a:p>
          <a:p>
            <a:pPr algn="l"/>
            <a:endParaRPr sz="1400" b="0">
              <a:solidFill>
                <a:srgbClr val="101010"/>
              </a:solidFill>
            </a:endParaRPr>
          </a:p>
          <a:p>
            <a:pPr algn="l"/>
            <a:r>
              <a:rPr sz="1400" b="0">
                <a:solidFill>
                  <a:srgbClr val="101010"/>
                </a:solidFill>
              </a:rPr>
              <a:t>Why it matters: StripedMap is the simplest of the three indexes. There is no traversal,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each operation acquires exactly one lock, so it isolates the cost of a single lock acquire</a:t>
            </a:r>
          </a:p>
          <a:p>
            <a:pPr algn="l"/>
            <a:r>
              <a:rPr sz="1400" b="0">
                <a:solidFill>
                  <a:srgbClr val="101010"/>
                </a:solidFill>
              </a:rPr>
              <a:t>plus the time to walk the per stripe std::list.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How we built BronsonAVL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Adapter at include/indexes/avl_tree_index.hpp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01010"/>
                </a:solidFill>
              </a:rPr>
              <a:t>Wraps cds::container::BronsonAVLTreeMap from libcds. Bronson et al. published this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lock based AVL tree as a balanced concurrent ordered map with optimistic version validated reads.</a:t>
            </a:r>
          </a:p>
          <a:p>
            <a:pPr algn="l"/>
            <a:endParaRPr sz="1300" b="0">
              <a:solidFill>
                <a:srgbClr val="101010"/>
              </a:solidFill>
            </a:endParaRPr>
          </a:p>
          <a:p>
            <a:pPr algn="l"/>
            <a:r>
              <a:rPr sz="1300" b="0">
                <a:solidFill>
                  <a:srgbClr val="101010"/>
                </a:solidFill>
              </a:rPr>
              <a:t>   Tree is balanced. Each node carries a monitor lock that we plug in via cds::sync::injecting_monitor&lt;Lock&gt;.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Reads use a sequence style version counter on each node. Writers take the lock, mutate, then bump the version.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Writes do hand over hand traversal down the tree, locking at most a small constant number of nodes at a time.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Memory reclamation is handled by URCU (cds::urcu::gc&lt;general_buffered&gt;). Worker threads attach to the URCU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   manager on first call via a thread_local guard, then detach at thread exit.</a:t>
            </a:r>
          </a:p>
          <a:p>
            <a:pPr algn="l"/>
            <a:endParaRPr sz="1300" b="0">
              <a:solidFill>
                <a:srgbClr val="101010"/>
              </a:solidFill>
            </a:endParaRPr>
          </a:p>
          <a:p>
            <a:pPr algn="l"/>
            <a:r>
              <a:rPr sz="1300" b="0">
                <a:solidFill>
                  <a:srgbClr val="101010"/>
                </a:solidFill>
              </a:rPr>
              <a:t>Why it matters: the contention surface is much smaller than StripedMap. The hot lock is wherever the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tree is being mutated, which depends on the key access pattern. This is what makes the zipfian</a:t>
            </a:r>
          </a:p>
          <a:p>
            <a:pPr algn="l"/>
            <a:r>
              <a:rPr sz="1300" b="0">
                <a:solidFill>
                  <a:srgbClr val="101010"/>
                </a:solidFill>
              </a:rPr>
              <a:t>workloads interesting: under a skewed distribution, a small set of nodes carries most writes.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How we built Wormhole, part 1: vendoring and shim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Adapter at include/indexes/wormhole_index.hpp; shim at third_party/wormhole/wh_lock_shim.{h,cpp}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dirty="0">
                <a:solidFill>
                  <a:srgbClr val="101010"/>
                </a:solidFill>
              </a:rPr>
              <a:t>Wormhole (Wu et al., FAST 2019) is a hybrid </a:t>
            </a:r>
            <a:r>
              <a:rPr sz="1200" b="0" dirty="0" err="1">
                <a:solidFill>
                  <a:srgbClr val="101010"/>
                </a:solidFill>
              </a:rPr>
              <a:t>trie</a:t>
            </a:r>
            <a:r>
              <a:rPr sz="1200" b="0" dirty="0">
                <a:solidFill>
                  <a:srgbClr val="101010"/>
                </a:solidFill>
              </a:rPr>
              <a:t> plus hash plus linked list ordered concurrent index.</a:t>
            </a:r>
          </a:p>
          <a:p>
            <a:pPr algn="l"/>
            <a:r>
              <a:rPr sz="1200" b="0" dirty="0">
                <a:solidFill>
                  <a:srgbClr val="101010"/>
                </a:solidFill>
              </a:rPr>
              <a:t>It hard codes its own </a:t>
            </a:r>
            <a:r>
              <a:rPr sz="1200" b="0" dirty="0" err="1">
                <a:solidFill>
                  <a:srgbClr val="101010"/>
                </a:solidFill>
              </a:rPr>
              <a:t>rwlock</a:t>
            </a:r>
            <a:r>
              <a:rPr sz="1200" b="0" dirty="0">
                <a:solidFill>
                  <a:srgbClr val="101010"/>
                </a:solidFill>
              </a:rPr>
              <a:t> and spinlock as 4 byte opaque structs in </a:t>
            </a:r>
            <a:r>
              <a:rPr sz="1200" b="0" dirty="0" err="1">
                <a:solidFill>
                  <a:srgbClr val="101010"/>
                </a:solidFill>
              </a:rPr>
              <a:t>lib.h</a:t>
            </a:r>
            <a:r>
              <a:rPr sz="1200" b="0" dirty="0">
                <a:solidFill>
                  <a:srgbClr val="101010"/>
                </a:solidFill>
              </a:rPr>
              <a:t>. For our experiment we need</a:t>
            </a:r>
          </a:p>
          <a:p>
            <a:pPr algn="l"/>
            <a:r>
              <a:rPr sz="1200" b="0" dirty="0">
                <a:solidFill>
                  <a:srgbClr val="101010"/>
                </a:solidFill>
              </a:rPr>
              <a:t>to swap them with any of our primitives at compile time.</a:t>
            </a:r>
          </a:p>
          <a:p>
            <a:pPr algn="l"/>
            <a:endParaRPr sz="1200" b="0" dirty="0">
              <a:solidFill>
                <a:srgbClr val="101010"/>
              </a:solidFill>
            </a:endParaRPr>
          </a:p>
          <a:p>
            <a:pPr algn="l"/>
            <a:r>
              <a:rPr sz="1200" b="0" dirty="0">
                <a:solidFill>
                  <a:srgbClr val="101010"/>
                </a:solidFill>
              </a:rPr>
              <a:t>Approach:</a:t>
            </a:r>
          </a:p>
          <a:p>
            <a:pPr algn="l"/>
            <a:r>
              <a:rPr sz="1200" b="0" dirty="0">
                <a:solidFill>
                  <a:srgbClr val="101010"/>
                </a:solidFill>
              </a:rPr>
              <a:t>   1. Vendor wormhole in tree at </a:t>
            </a:r>
            <a:r>
              <a:rPr sz="1200" b="0" dirty="0" err="1">
                <a:solidFill>
                  <a:srgbClr val="101010"/>
                </a:solidFill>
              </a:rPr>
              <a:t>third_party</a:t>
            </a:r>
            <a:r>
              <a:rPr sz="1200" b="0" dirty="0">
                <a:solidFill>
                  <a:srgbClr val="101010"/>
                </a:solidFill>
              </a:rPr>
              <a:t>/wormhole/. The only edits to upstream sources are short</a:t>
            </a:r>
          </a:p>
          <a:p>
            <a:pPr algn="l"/>
            <a:r>
              <a:rPr sz="1200" b="0" dirty="0">
                <a:solidFill>
                  <a:srgbClr val="101010"/>
                </a:solidFill>
              </a:rPr>
              <a:t>      ifdef gated blocks. With WH_LOCK_SHIM unset, the build is upstream wormhole untouched.</a:t>
            </a:r>
          </a:p>
          <a:p>
            <a:pPr algn="l"/>
            <a:r>
              <a:rPr sz="1200" b="0" dirty="0">
                <a:solidFill>
                  <a:srgbClr val="101010"/>
                </a:solidFill>
              </a:rPr>
              <a:t>   2. Add </a:t>
            </a:r>
            <a:r>
              <a:rPr sz="1200" b="0" dirty="0" err="1">
                <a:solidFill>
                  <a:srgbClr val="101010"/>
                </a:solidFill>
              </a:rPr>
              <a:t>wh_lock_shim.h</a:t>
            </a:r>
            <a:r>
              <a:rPr sz="1200" b="0" dirty="0">
                <a:solidFill>
                  <a:srgbClr val="101010"/>
                </a:solidFill>
              </a:rPr>
              <a:t>, which redefines struct </a:t>
            </a:r>
            <a:r>
              <a:rPr sz="1200" b="0" dirty="0" err="1">
                <a:solidFill>
                  <a:srgbClr val="101010"/>
                </a:solidFill>
              </a:rPr>
              <a:t>rwlock</a:t>
            </a:r>
            <a:r>
              <a:rPr sz="1200" b="0" dirty="0">
                <a:solidFill>
                  <a:srgbClr val="101010"/>
                </a:solidFill>
              </a:rPr>
              <a:t> and struct spinlock as 128 byte storage arrays</a:t>
            </a:r>
          </a:p>
          <a:p>
            <a:pPr algn="l"/>
            <a:r>
              <a:rPr sz="1200" b="0" dirty="0">
                <a:solidFill>
                  <a:srgbClr val="101010"/>
                </a:solidFill>
              </a:rPr>
              <a:t>      with extern C function declarations matching upstream signatures (</a:t>
            </a:r>
            <a:r>
              <a:rPr sz="1200" b="0" dirty="0" err="1">
                <a:solidFill>
                  <a:srgbClr val="101010"/>
                </a:solidFill>
              </a:rPr>
              <a:t>rwlock_lock_read</a:t>
            </a:r>
            <a:r>
              <a:rPr sz="1200" b="0" dirty="0">
                <a:solidFill>
                  <a:srgbClr val="101010"/>
                </a:solidFill>
              </a:rPr>
              <a:t>, </a:t>
            </a:r>
            <a:r>
              <a:rPr sz="1200" b="0" dirty="0" err="1">
                <a:solidFill>
                  <a:srgbClr val="101010"/>
                </a:solidFill>
              </a:rPr>
              <a:t>rwlock_trylock_write_nr</a:t>
            </a:r>
            <a:r>
              <a:rPr sz="1200" b="0" dirty="0">
                <a:solidFill>
                  <a:srgbClr val="101010"/>
                </a:solidFill>
              </a:rPr>
              <a:t>, etc.).</a:t>
            </a:r>
          </a:p>
          <a:p>
            <a:pPr algn="l"/>
            <a:r>
              <a:rPr sz="1200" b="0" dirty="0">
                <a:solidFill>
                  <a:srgbClr val="101010"/>
                </a:solidFill>
              </a:rPr>
              <a:t>   3. Add </a:t>
            </a:r>
            <a:r>
              <a:rPr sz="1200" b="0" dirty="0" err="1">
                <a:solidFill>
                  <a:srgbClr val="101010"/>
                </a:solidFill>
              </a:rPr>
              <a:t>wh_lock_shim.cpp</a:t>
            </a:r>
            <a:r>
              <a:rPr sz="1200" b="0" dirty="0">
                <a:solidFill>
                  <a:srgbClr val="101010"/>
                </a:solidFill>
              </a:rPr>
              <a:t>, a C++ TU that picks </a:t>
            </a:r>
            <a:r>
              <a:rPr sz="1200" b="0" dirty="0" err="1">
                <a:solidFill>
                  <a:srgbClr val="101010"/>
                </a:solidFill>
              </a:rPr>
              <a:t>LockT</a:t>
            </a:r>
            <a:r>
              <a:rPr sz="1200" b="0" dirty="0">
                <a:solidFill>
                  <a:srgbClr val="101010"/>
                </a:solidFill>
              </a:rPr>
              <a:t> via WH_LOCK_&lt;NAME&gt; macro, asserts size and alignment,</a:t>
            </a:r>
          </a:p>
          <a:p>
            <a:pPr algn="l"/>
            <a:r>
              <a:rPr sz="1200" b="0" dirty="0">
                <a:solidFill>
                  <a:srgbClr val="101010"/>
                </a:solidFill>
              </a:rPr>
              <a:t>      and provides extern C bodies. Each function placement-news the </a:t>
            </a:r>
            <a:r>
              <a:rPr sz="1200" b="0" dirty="0" err="1">
                <a:solidFill>
                  <a:srgbClr val="101010"/>
                </a:solidFill>
              </a:rPr>
              <a:t>LockT</a:t>
            </a:r>
            <a:r>
              <a:rPr sz="1200" b="0" dirty="0">
                <a:solidFill>
                  <a:srgbClr val="101010"/>
                </a:solidFill>
              </a:rPr>
              <a:t> into the shim storage at </a:t>
            </a:r>
            <a:r>
              <a:rPr sz="1200" b="0" dirty="0" err="1">
                <a:solidFill>
                  <a:srgbClr val="101010"/>
                </a:solidFill>
              </a:rPr>
              <a:t>init</a:t>
            </a:r>
            <a:r>
              <a:rPr sz="1200" b="0" dirty="0">
                <a:solidFill>
                  <a:srgbClr val="101010"/>
                </a:solidFill>
              </a:rPr>
              <a:t> time</a:t>
            </a:r>
          </a:p>
          <a:p>
            <a:pPr algn="l"/>
            <a:r>
              <a:rPr sz="1200" b="0" dirty="0">
                <a:solidFill>
                  <a:srgbClr val="101010"/>
                </a:solidFill>
              </a:rPr>
              <a:t>      and dispatches via small if </a:t>
            </a:r>
            <a:r>
              <a:rPr sz="1200" b="0" dirty="0" err="1">
                <a:solidFill>
                  <a:srgbClr val="101010"/>
                </a:solidFill>
              </a:rPr>
              <a:t>constexpr</a:t>
            </a:r>
            <a:r>
              <a:rPr sz="1200" b="0" dirty="0">
                <a:solidFill>
                  <a:srgbClr val="101010"/>
                </a:solidFill>
              </a:rPr>
              <a:t> templates so the non matching branches are elided.</a:t>
            </a:r>
          </a:p>
          <a:p>
            <a:pPr algn="l"/>
            <a:endParaRPr sz="1200" b="0" dirty="0">
              <a:solidFill>
                <a:srgbClr val="101010"/>
              </a:solidFill>
            </a:endParaRPr>
          </a:p>
          <a:p>
            <a:pPr algn="l"/>
            <a:r>
              <a:rPr sz="1200" b="0" dirty="0">
                <a:solidFill>
                  <a:srgbClr val="101010"/>
                </a:solidFill>
              </a:rPr>
              <a:t>occ-opt is special: writer side uses the </a:t>
            </a:r>
            <a:r>
              <a:rPr sz="1200" b="0" dirty="0" err="1">
                <a:solidFill>
                  <a:srgbClr val="101010"/>
                </a:solidFill>
              </a:rPr>
              <a:t>cas</a:t>
            </a:r>
            <a:r>
              <a:rPr sz="1200" b="0" dirty="0">
                <a:solidFill>
                  <a:srgbClr val="101010"/>
                </a:solidFill>
              </a:rPr>
              <a:t> lock, but readers walk the leaf without taking the lock at all.</a:t>
            </a:r>
          </a:p>
          <a:p>
            <a:pPr algn="l"/>
            <a:r>
              <a:rPr sz="1200" b="0" dirty="0">
                <a:solidFill>
                  <a:srgbClr val="101010"/>
                </a:solidFill>
              </a:rPr>
              <a:t>They snapshot a per leaf </a:t>
            </a:r>
            <a:r>
              <a:rPr sz="1200" b="0" dirty="0" err="1">
                <a:solidFill>
                  <a:srgbClr val="101010"/>
                </a:solidFill>
              </a:rPr>
              <a:t>seqlock</a:t>
            </a:r>
            <a:r>
              <a:rPr sz="1200" b="0" dirty="0">
                <a:solidFill>
                  <a:srgbClr val="101010"/>
                </a:solidFill>
              </a:rPr>
              <a:t> counter, read the entries, then validate. On mismatch they retry.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How we built Wormhole, part 2: the alignment 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Every shim variant SIGSEGV on Xeon during the very first prefill insert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01010"/>
                </a:solidFill>
              </a:rPr>
              <a:t>Symptom: </a:t>
            </a:r>
            <a:r>
              <a:rPr sz="1100" b="0" dirty="0" err="1">
                <a:solidFill>
                  <a:srgbClr val="101010"/>
                </a:solidFill>
              </a:rPr>
              <a:t>wh_test_rw</a:t>
            </a:r>
            <a:r>
              <a:rPr sz="1100" b="0" dirty="0">
                <a:solidFill>
                  <a:srgbClr val="101010"/>
                </a:solidFill>
              </a:rPr>
              <a:t>, </a:t>
            </a:r>
            <a:r>
              <a:rPr sz="1100" b="0" dirty="0" err="1">
                <a:solidFill>
                  <a:srgbClr val="101010"/>
                </a:solidFill>
              </a:rPr>
              <a:t>wh_test_cas</a:t>
            </a:r>
            <a:r>
              <a:rPr sz="1100" b="0" dirty="0">
                <a:solidFill>
                  <a:srgbClr val="101010"/>
                </a:solidFill>
              </a:rPr>
              <a:t>, </a:t>
            </a:r>
            <a:r>
              <a:rPr sz="1100" b="0" dirty="0" err="1">
                <a:solidFill>
                  <a:srgbClr val="101010"/>
                </a:solidFill>
              </a:rPr>
              <a:t>wh_test_tas</a:t>
            </a:r>
            <a:r>
              <a:rPr sz="1100" b="0" dirty="0">
                <a:solidFill>
                  <a:srgbClr val="101010"/>
                </a:solidFill>
              </a:rPr>
              <a:t>, </a:t>
            </a:r>
            <a:r>
              <a:rPr sz="1100" b="0" dirty="0" err="1">
                <a:solidFill>
                  <a:srgbClr val="101010"/>
                </a:solidFill>
              </a:rPr>
              <a:t>wh_test_ttas</a:t>
            </a:r>
            <a:r>
              <a:rPr sz="1100" b="0" dirty="0">
                <a:solidFill>
                  <a:srgbClr val="101010"/>
                </a:solidFill>
              </a:rPr>
              <a:t>, </a:t>
            </a:r>
            <a:r>
              <a:rPr sz="1100" b="0" dirty="0" err="1">
                <a:solidFill>
                  <a:srgbClr val="101010"/>
                </a:solidFill>
              </a:rPr>
              <a:t>wh_test_occ</a:t>
            </a:r>
            <a:r>
              <a:rPr sz="1100" b="0" dirty="0">
                <a:solidFill>
                  <a:srgbClr val="101010"/>
                </a:solidFill>
              </a:rPr>
              <a:t>, </a:t>
            </a:r>
            <a:r>
              <a:rPr sz="1100" b="0" dirty="0" err="1">
                <a:solidFill>
                  <a:srgbClr val="101010"/>
                </a:solidFill>
              </a:rPr>
              <a:t>wh_test_occ</a:t>
            </a:r>
            <a:r>
              <a:rPr sz="1100" b="0" dirty="0">
                <a:solidFill>
                  <a:srgbClr val="101010"/>
                </a:solidFill>
              </a:rPr>
              <a:t>-opt all crashed in</a:t>
            </a:r>
          </a:p>
          <a:p>
            <a:pPr algn="l"/>
            <a:r>
              <a:rPr sz="1100" b="0" dirty="0" err="1">
                <a:solidFill>
                  <a:srgbClr val="101010"/>
                </a:solidFill>
              </a:rPr>
              <a:t>wormleaf_insert_hs</a:t>
            </a:r>
            <a:r>
              <a:rPr sz="1100" b="0" dirty="0">
                <a:solidFill>
                  <a:srgbClr val="101010"/>
                </a:solidFill>
              </a:rPr>
              <a:t> on Xeon. </a:t>
            </a:r>
            <a:r>
              <a:rPr sz="1100" b="0" dirty="0" err="1">
                <a:solidFill>
                  <a:srgbClr val="101010"/>
                </a:solidFill>
              </a:rPr>
              <a:t>wh_test_default</a:t>
            </a:r>
            <a:r>
              <a:rPr sz="1100" b="0" dirty="0">
                <a:solidFill>
                  <a:srgbClr val="101010"/>
                </a:solidFill>
              </a:rPr>
              <a:t> ran clean. The crash was invisible on Apple Silicon.</a:t>
            </a:r>
          </a:p>
          <a:p>
            <a:pPr algn="l"/>
            <a:endParaRPr sz="1100" b="0" dirty="0">
              <a:solidFill>
                <a:srgbClr val="101010"/>
              </a:solidFill>
            </a:endParaRPr>
          </a:p>
          <a:p>
            <a:pPr algn="l"/>
            <a:r>
              <a:rPr sz="1100" b="0" dirty="0">
                <a:solidFill>
                  <a:srgbClr val="101010"/>
                </a:solidFill>
              </a:rPr>
              <a:t>Root cause: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</a:t>
            </a:r>
            <a:r>
              <a:rPr sz="1100" b="0" dirty="0" err="1">
                <a:solidFill>
                  <a:srgbClr val="101010"/>
                </a:solidFill>
              </a:rPr>
              <a:t>wormleaf_shift_inc</a:t>
            </a:r>
            <a:r>
              <a:rPr sz="1100" b="0" dirty="0">
                <a:solidFill>
                  <a:srgbClr val="101010"/>
                </a:solidFill>
              </a:rPr>
              <a:t> and </a:t>
            </a:r>
            <a:r>
              <a:rPr sz="1100" b="0" dirty="0" err="1">
                <a:solidFill>
                  <a:srgbClr val="101010"/>
                </a:solidFill>
              </a:rPr>
              <a:t>wormleaf_shift_dec</a:t>
            </a:r>
            <a:r>
              <a:rPr sz="1100" b="0" dirty="0">
                <a:solidFill>
                  <a:srgbClr val="101010"/>
                </a:solidFill>
              </a:rPr>
              <a:t> use _mm256_load_si256 on leaf-&gt;ss (AVX2 aligned load).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Aligned loads need the source address to be a multiple of 32 bytes.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With upstream wormhole, </a:t>
            </a:r>
            <a:r>
              <a:rPr sz="1100" b="0" dirty="0" err="1">
                <a:solidFill>
                  <a:srgbClr val="101010"/>
                </a:solidFill>
              </a:rPr>
              <a:t>leaflock</a:t>
            </a:r>
            <a:r>
              <a:rPr sz="1100" b="0" dirty="0">
                <a:solidFill>
                  <a:srgbClr val="101010"/>
                </a:solidFill>
              </a:rPr>
              <a:t> + </a:t>
            </a:r>
            <a:r>
              <a:rPr sz="1100" b="0" dirty="0" err="1">
                <a:solidFill>
                  <a:srgbClr val="101010"/>
                </a:solidFill>
              </a:rPr>
              <a:t>sortlock</a:t>
            </a:r>
            <a:r>
              <a:rPr sz="1100" b="0" dirty="0">
                <a:solidFill>
                  <a:srgbClr val="101010"/>
                </a:solidFill>
              </a:rPr>
              <a:t> take 8 bytes total, so leaf-&gt;ss starts at offset 1088 (aligned).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With our shim, </a:t>
            </a:r>
            <a:r>
              <a:rPr sz="1100" b="0" dirty="0" err="1">
                <a:solidFill>
                  <a:srgbClr val="101010"/>
                </a:solidFill>
              </a:rPr>
              <a:t>leaflock</a:t>
            </a:r>
            <a:r>
              <a:rPr sz="1100" b="0" dirty="0">
                <a:solidFill>
                  <a:srgbClr val="101010"/>
                </a:solidFill>
              </a:rPr>
              <a:t> + </a:t>
            </a:r>
            <a:r>
              <a:rPr sz="1100" b="0" dirty="0" err="1">
                <a:solidFill>
                  <a:srgbClr val="101010"/>
                </a:solidFill>
              </a:rPr>
              <a:t>sortlock</a:t>
            </a:r>
            <a:r>
              <a:rPr sz="1100" b="0" dirty="0">
                <a:solidFill>
                  <a:srgbClr val="101010"/>
                </a:solidFill>
              </a:rPr>
              <a:t> take 256 bytes, pushing leaf-&gt;ss to offset 1336 (1336 mod 16 = 8).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Aligned SIMD load at a misaligned address gives SIGSEGV on x86. NEON tolerates misalignment, so Mac was fine.</a:t>
            </a:r>
          </a:p>
          <a:p>
            <a:pPr algn="l"/>
            <a:endParaRPr sz="1100" b="0" dirty="0">
              <a:solidFill>
                <a:srgbClr val="101010"/>
              </a:solidFill>
            </a:endParaRPr>
          </a:p>
          <a:p>
            <a:pPr algn="l"/>
            <a:r>
              <a:rPr sz="1100" b="0" dirty="0">
                <a:solidFill>
                  <a:srgbClr val="101010"/>
                </a:solidFill>
              </a:rPr>
              <a:t>Fix: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_</a:t>
            </a:r>
            <a:r>
              <a:rPr sz="1100" b="0" dirty="0" err="1">
                <a:solidFill>
                  <a:srgbClr val="101010"/>
                </a:solidFill>
              </a:rPr>
              <a:t>Alignas</a:t>
            </a:r>
            <a:r>
              <a:rPr sz="1100" b="0" dirty="0">
                <a:solidFill>
                  <a:srgbClr val="101010"/>
                </a:solidFill>
              </a:rPr>
              <a:t>(32) struct entry13 </a:t>
            </a:r>
            <a:r>
              <a:rPr sz="1100" b="0" dirty="0" err="1">
                <a:solidFill>
                  <a:srgbClr val="101010"/>
                </a:solidFill>
              </a:rPr>
              <a:t>hs</a:t>
            </a:r>
            <a:r>
              <a:rPr sz="1100" b="0" dirty="0">
                <a:solidFill>
                  <a:srgbClr val="101010"/>
                </a:solidFill>
              </a:rPr>
              <a:t>[WH_KPN]; in struct </a:t>
            </a:r>
            <a:r>
              <a:rPr sz="1100" b="0" dirty="0" err="1">
                <a:solidFill>
                  <a:srgbClr val="101010"/>
                </a:solidFill>
              </a:rPr>
              <a:t>wormleaf</a:t>
            </a:r>
            <a:r>
              <a:rPr sz="1100" b="0" dirty="0">
                <a:solidFill>
                  <a:srgbClr val="101010"/>
                </a:solidFill>
              </a:rPr>
              <a:t>, gated on WH_LOCK_SHIM.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This adds 8 bytes of padding before </a:t>
            </a:r>
            <a:r>
              <a:rPr sz="1100" b="0" dirty="0" err="1">
                <a:solidFill>
                  <a:srgbClr val="101010"/>
                </a:solidFill>
              </a:rPr>
              <a:t>hs</a:t>
            </a:r>
            <a:r>
              <a:rPr sz="1100" b="0" dirty="0">
                <a:solidFill>
                  <a:srgbClr val="101010"/>
                </a:solidFill>
              </a:rPr>
              <a:t>[], pulls </a:t>
            </a:r>
            <a:r>
              <a:rPr sz="1100" b="0" dirty="0" err="1">
                <a:solidFill>
                  <a:srgbClr val="101010"/>
                </a:solidFill>
              </a:rPr>
              <a:t>hs</a:t>
            </a:r>
            <a:r>
              <a:rPr sz="1100" b="0" dirty="0">
                <a:solidFill>
                  <a:srgbClr val="101010"/>
                </a:solidFill>
              </a:rPr>
              <a:t> to offset 320 and ss to 1344, both 32 byte aligned.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How we built Wormhole, part 3: bugs in the optimistic reader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Five separate things had to be fixed before wh-occ-opt was correct and fair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01010"/>
                </a:solidFill>
              </a:rPr>
              <a:t>1. Uninitialized occ_seq.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slab_alloc_safe returns memory with stale bits. If a fresh leaf came in with an odd seq counter,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readers spun forever waiting for a writer that never existed. Fix: initialize occ_seq to 0 in wormleaf_alloc.</a:t>
            </a:r>
          </a:p>
          <a:p>
            <a:pPr algn="l"/>
            <a:endParaRPr sz="1000" b="0">
              <a:solidFill>
                <a:srgbClr val="101010"/>
              </a:solidFill>
            </a:endParaRPr>
          </a:p>
          <a:p>
            <a:pPr algn="l"/>
            <a:r>
              <a:rPr sz="1000" b="0">
                <a:solidFill>
                  <a:srgbClr val="101010"/>
                </a:solidFill>
              </a:rPr>
              <a:t>2. Missing seq bumps in writer fast paths.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wormhole_jump_leaf_write and wormhole_split_insert bypass the regular wormleaf_lock_write / unlock_write.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Without explicit bumps the seq would go odd and never come back to even, leaving the leaf in an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apparent "writer in progress" state forever. Fix: bump occ_seq on trylock_write_nr success in those paths.</a:t>
            </a:r>
          </a:p>
          <a:p>
            <a:pPr algn="l"/>
            <a:endParaRPr sz="1000" b="0">
              <a:solidFill>
                <a:srgbClr val="101010"/>
              </a:solidFill>
            </a:endParaRPr>
          </a:p>
          <a:p>
            <a:pPr algn="l"/>
            <a:r>
              <a:rPr sz="1000" b="0">
                <a:solidFill>
                  <a:srgbClr val="101010"/>
                </a:solidFill>
              </a:rPr>
              <a:t>3. Torn entry13 reads.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entry13 is an 8 byte packed struct (e1: u16 key prefix, e3: u48 compressed pointer).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Stock wormleaf_match_hs reads e1 and e3 as separate field accesses. Without the leaflock, a writer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could clear hs[i].v64 between the two reads. Reader sees e1 == pkey, then reads e3 == 0, derefs NULL,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SIGSEGV. The seqlock validate would catch it, but only after the segfault.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Fix: read entry13 as a single atomic v64 load, unpack e1 and e3 from the same snapshot.</a:t>
            </a:r>
          </a:p>
          <a:p>
            <a:pPr algn="l"/>
            <a:endParaRPr sz="1000" b="0">
              <a:solidFill>
                <a:srgbClr val="101010"/>
              </a:solidFill>
            </a:endParaRPr>
          </a:p>
          <a:p>
            <a:pPr algn="l"/>
            <a:r>
              <a:rPr sz="1000" b="0">
                <a:solidFill>
                  <a:srgbClr val="101010"/>
                </a:solidFill>
              </a:rPr>
              <a:t>4. kv use after free under optimistic reads.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kvmap_mm_dup frees old kvs immediately on update. An optimistic reader could hold a kv pointer that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gets freed mid-read. Fix: custom kvmap_mm with a no-op free for wh-occ-opt. kvs leak for the run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(~150 MB for a 3 second benchmark, acceptable for measurement). A production implementation would defer free via QSBR.</a:t>
            </a:r>
          </a:p>
          <a:p>
            <a:pPr algn="l"/>
            <a:endParaRPr sz="1000" b="0">
              <a:solidFill>
                <a:srgbClr val="101010"/>
              </a:solidFill>
            </a:endParaRPr>
          </a:p>
          <a:p>
            <a:pPr algn="l"/>
            <a:r>
              <a:rPr sz="1000" b="0">
                <a:solidFill>
                  <a:srgbClr val="101010"/>
                </a:solidFill>
              </a:rPr>
              <a:t>5. Allocator asymmetry inflated the wh-occ-opt win.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Locked variants paid roughly 10 to 30 ns per op for free(); the no-op free variant did not.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That artificially doubled occ-opt apparent advantage on write heavy zipfian. Fix: WH_FAIR_MM CMake</a:t>
            </a:r>
          </a:p>
          <a:p>
            <a:pPr algn="l"/>
            <a:r>
              <a:rPr sz="1000" b="0">
                <a:solidFill>
                  <a:srgbClr val="101010"/>
                </a:solidFill>
              </a:rPr>
              <a:t>   option that uses the same no-op free MM for ALL variants. Required for an apples to apples comparison.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Wormhole, balanced workload (uniform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Top: throughput vs threads. Bottom: ranking at the architecture's maximum threads.</a:t>
            </a:r>
          </a:p>
        </p:txBody>
      </p:sp>
      <p:pic>
        <p:nvPicPr>
          <p:cNvPr id="4" name="Picture 3" descr="wh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201400" cy="50910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Wormhole, read heavy workload (uniform 90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Where an optimistic reader is expected to win</a:t>
            </a:r>
          </a:p>
        </p:txBody>
      </p:sp>
      <p:pic>
        <p:nvPicPr>
          <p:cNvPr id="4" name="Picture 3" descr="wh_readhe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201400" cy="50910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Wormhole, write heavy workload (zipfian 20 percent reads, 40 inserts, 40 deletes)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Hot key contention, where readers cannot escape conflict</a:t>
            </a:r>
          </a:p>
        </p:txBody>
      </p:sp>
      <p:pic>
        <p:nvPicPr>
          <p:cNvPr id="4" name="Picture 3" descr="wh_writehe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201400" cy="50910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libcds StripedMap, balanced workload (uniform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Per stripe lock contention, no traversal</a:t>
            </a:r>
          </a:p>
        </p:txBody>
      </p:sp>
      <p:pic>
        <p:nvPicPr>
          <p:cNvPr id="4" name="Picture 3" descr="cds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201400" cy="50910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libcds StripedMap, hot key workload (zipfian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A few stripes carry most of the traffic</a:t>
            </a:r>
          </a:p>
        </p:txBody>
      </p:sp>
      <p:pic>
        <p:nvPicPr>
          <p:cNvPr id="4" name="Picture 3" descr="cds_zipf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201400" cy="50910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libcds BronsonAVL, balanced workload (uniform 80 percent reads)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Per node monitor lock, much smaller contention surface than StripedMap</a:t>
            </a:r>
          </a:p>
        </p:txBody>
      </p:sp>
      <p:pic>
        <p:nvPicPr>
          <p:cNvPr id="4" name="Picture 3" descr="avl_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201400" cy="50910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libcds BronsonAVL, write heavy workload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</a:rPr>
              <a:t>Tree mutations create more lock acquisition per operation</a:t>
            </a:r>
          </a:p>
        </p:txBody>
      </p:sp>
      <p:pic>
        <p:nvPicPr>
          <p:cNvPr id="4" name="Picture 3" descr="avl_writehe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201400" cy="509102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dirty="0">
                <a:solidFill>
                  <a:srgbClr val="1F3A5F"/>
                </a:solidFill>
              </a:rPr>
              <a:t>Next steps, part 1: </a:t>
            </a:r>
            <a:r>
              <a:rPr lang="en-US" sz="2600" b="1" dirty="0">
                <a:solidFill>
                  <a:srgbClr val="1F3A5F"/>
                </a:solidFill>
              </a:rPr>
              <a:t>assembly question</a:t>
            </a:r>
            <a:endParaRPr sz="2600" b="1" dirty="0">
              <a:solidFill>
                <a:srgbClr val="1F3A5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6198919" cy="19543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01010"/>
                </a:solidFill>
              </a:rPr>
              <a:t>Every lock primitive we have evaluated so far (</a:t>
            </a:r>
            <a:r>
              <a:rPr sz="1100" b="0" dirty="0" err="1">
                <a:solidFill>
                  <a:srgbClr val="101010"/>
                </a:solidFill>
              </a:rPr>
              <a:t>tas</a:t>
            </a:r>
            <a:r>
              <a:rPr sz="1100" b="0" dirty="0">
                <a:solidFill>
                  <a:srgbClr val="101010"/>
                </a:solidFill>
              </a:rPr>
              <a:t>, </a:t>
            </a:r>
            <a:r>
              <a:rPr sz="1100" b="0" dirty="0" err="1">
                <a:solidFill>
                  <a:srgbClr val="101010"/>
                </a:solidFill>
              </a:rPr>
              <a:t>ttas</a:t>
            </a:r>
            <a:r>
              <a:rPr sz="1100" b="0" dirty="0">
                <a:solidFill>
                  <a:srgbClr val="101010"/>
                </a:solidFill>
              </a:rPr>
              <a:t>, </a:t>
            </a:r>
            <a:r>
              <a:rPr sz="1100" b="0" dirty="0" err="1">
                <a:solidFill>
                  <a:srgbClr val="101010"/>
                </a:solidFill>
              </a:rPr>
              <a:t>cas</a:t>
            </a:r>
            <a:r>
              <a:rPr sz="1100" b="0" dirty="0">
                <a:solidFill>
                  <a:srgbClr val="101010"/>
                </a:solidFill>
              </a:rPr>
              <a:t>, ticket, </a:t>
            </a:r>
            <a:r>
              <a:rPr sz="1100" b="0" dirty="0" err="1">
                <a:solidFill>
                  <a:srgbClr val="101010"/>
                </a:solidFill>
              </a:rPr>
              <a:t>rw</a:t>
            </a:r>
            <a:r>
              <a:rPr sz="1100" b="0" dirty="0">
                <a:solidFill>
                  <a:srgbClr val="101010"/>
                </a:solidFill>
              </a:rPr>
              <a:t>, occ) is built on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std::atomic. The compiler picks the underlying instruction. On Graviton with -march=native </a:t>
            </a:r>
            <a:r>
              <a:rPr lang="en-US" sz="1100" b="0" dirty="0">
                <a:solidFill>
                  <a:srgbClr val="101010"/>
                </a:solidFill>
              </a:rPr>
              <a:t>are</a:t>
            </a:r>
            <a:r>
              <a:rPr lang="en-US" sz="1100" dirty="0">
                <a:solidFill>
                  <a:srgbClr val="101010"/>
                </a:solidFill>
              </a:rPr>
              <a:t> </a:t>
            </a:r>
            <a:r>
              <a:rPr sz="1100" b="0" dirty="0">
                <a:solidFill>
                  <a:srgbClr val="101010"/>
                </a:solidFill>
              </a:rPr>
              <a:t>getting the ARMv8.1 LSE atomics (</a:t>
            </a:r>
            <a:r>
              <a:rPr sz="1100" b="0" dirty="0" err="1">
                <a:solidFill>
                  <a:srgbClr val="101010"/>
                </a:solidFill>
              </a:rPr>
              <a:t>cas</a:t>
            </a:r>
            <a:r>
              <a:rPr sz="1100" b="0" dirty="0">
                <a:solidFill>
                  <a:srgbClr val="101010"/>
                </a:solidFill>
              </a:rPr>
              <a:t>, </a:t>
            </a:r>
            <a:r>
              <a:rPr sz="1100" b="0" dirty="0" err="1">
                <a:solidFill>
                  <a:srgbClr val="101010"/>
                </a:solidFill>
              </a:rPr>
              <a:t>casal</a:t>
            </a:r>
            <a:r>
              <a:rPr sz="1100" b="0" dirty="0">
                <a:solidFill>
                  <a:srgbClr val="101010"/>
                </a:solidFill>
              </a:rPr>
              <a:t>, </a:t>
            </a:r>
            <a:r>
              <a:rPr sz="1100" b="0" dirty="0" err="1">
                <a:solidFill>
                  <a:srgbClr val="101010"/>
                </a:solidFill>
              </a:rPr>
              <a:t>swp</a:t>
            </a:r>
            <a:r>
              <a:rPr sz="1100" b="0" dirty="0">
                <a:solidFill>
                  <a:srgbClr val="101010"/>
                </a:solidFill>
              </a:rPr>
              <a:t>, </a:t>
            </a:r>
            <a:r>
              <a:rPr sz="1100" b="0" dirty="0" err="1">
                <a:solidFill>
                  <a:srgbClr val="101010"/>
                </a:solidFill>
              </a:rPr>
              <a:t>ldadd</a:t>
            </a:r>
            <a:r>
              <a:rPr sz="1100" b="0" dirty="0">
                <a:solidFill>
                  <a:srgbClr val="101010"/>
                </a:solidFill>
              </a:rPr>
              <a:t>). On Xeon we get the lock prefixed instructions (lock </a:t>
            </a:r>
            <a:r>
              <a:rPr sz="1100" b="0" dirty="0" err="1">
                <a:solidFill>
                  <a:srgbClr val="101010"/>
                </a:solidFill>
              </a:rPr>
              <a:t>cmpxchg</a:t>
            </a:r>
            <a:r>
              <a:rPr sz="1100" b="0" dirty="0">
                <a:solidFill>
                  <a:srgbClr val="101010"/>
                </a:solidFill>
              </a:rPr>
              <a:t>, lock </a:t>
            </a:r>
            <a:r>
              <a:rPr sz="1100" b="0" dirty="0" err="1">
                <a:solidFill>
                  <a:srgbClr val="101010"/>
                </a:solidFill>
              </a:rPr>
              <a:t>xchg</a:t>
            </a:r>
            <a:r>
              <a:rPr sz="1100" b="0" dirty="0">
                <a:solidFill>
                  <a:srgbClr val="101010"/>
                </a:solidFill>
              </a:rPr>
              <a:t>, lock </a:t>
            </a:r>
            <a:r>
              <a:rPr sz="1100" b="0" dirty="0" err="1">
                <a:solidFill>
                  <a:srgbClr val="101010"/>
                </a:solidFill>
              </a:rPr>
              <a:t>xadd</a:t>
            </a:r>
            <a:r>
              <a:rPr sz="1100" b="0" dirty="0">
                <a:solidFill>
                  <a:srgbClr val="101010"/>
                </a:solidFill>
              </a:rPr>
              <a:t>).</a:t>
            </a:r>
          </a:p>
          <a:p>
            <a:pPr algn="l"/>
            <a:endParaRPr sz="1100" b="0" dirty="0">
              <a:solidFill>
                <a:srgbClr val="101010"/>
              </a:solidFill>
            </a:endParaRPr>
          </a:p>
          <a:p>
            <a:pPr algn="l"/>
            <a:r>
              <a:rPr sz="1100" b="0" dirty="0">
                <a:solidFill>
                  <a:srgbClr val="101010"/>
                </a:solidFill>
              </a:rPr>
              <a:t>Things our current set does NOT cover: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On ARM, WFE (Wait For Event) and SEV (Send Event). These let a spinning core enter a low power wait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that wakes when the cache line changes. The Linux kernel arm64 spinlock uses them. Our </a:t>
            </a:r>
            <a:r>
              <a:rPr sz="1100" b="0" dirty="0" err="1">
                <a:solidFill>
                  <a:srgbClr val="101010"/>
                </a:solidFill>
              </a:rPr>
              <a:t>cpu_relax</a:t>
            </a:r>
            <a:r>
              <a:rPr sz="1100" b="0" dirty="0">
                <a:solidFill>
                  <a:srgbClr val="101010"/>
                </a:solidFill>
              </a:rPr>
              <a:t> just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does YIELD which is a hint that is largely a NOP on Neoverse cores.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On ARM, hand picking barrier strength (DMB ISHLD vs DMB ISHST vs DMB ISH SY) instead of letting the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compiler map </a:t>
            </a:r>
            <a:r>
              <a:rPr sz="1100" b="0" dirty="0" err="1">
                <a:solidFill>
                  <a:srgbClr val="101010"/>
                </a:solidFill>
              </a:rPr>
              <a:t>memory_order_release</a:t>
            </a:r>
            <a:r>
              <a:rPr sz="1100" b="0" dirty="0">
                <a:solidFill>
                  <a:srgbClr val="101010"/>
                </a:solidFill>
              </a:rPr>
              <a:t> to whichever DMB it picks.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A5F"/>
                </a:solidFill>
              </a:rPr>
              <a:t>Next steps, part 2: concrete experiments to run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01010"/>
                </a:solidFill>
              </a:rPr>
              <a:t> Add a WFE based spinlock primitive (most promising new direction for ARM).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New file: include/primitives/</a:t>
            </a:r>
            <a:r>
              <a:rPr sz="1100" b="0" dirty="0" err="1">
                <a:solidFill>
                  <a:srgbClr val="101010"/>
                </a:solidFill>
              </a:rPr>
              <a:t>tas_lock_wfe.hpp</a:t>
            </a:r>
            <a:r>
              <a:rPr sz="1100" b="0" dirty="0">
                <a:solidFill>
                  <a:srgbClr val="101010"/>
                </a:solidFill>
              </a:rPr>
              <a:t> and a matching </a:t>
            </a:r>
            <a:r>
              <a:rPr sz="1100" b="0" dirty="0" err="1">
                <a:solidFill>
                  <a:srgbClr val="101010"/>
                </a:solidFill>
              </a:rPr>
              <a:t>cas_lock_wfe.hpp</a:t>
            </a:r>
            <a:r>
              <a:rPr sz="1100" b="0" dirty="0">
                <a:solidFill>
                  <a:srgbClr val="101010"/>
                </a:solidFill>
              </a:rPr>
              <a:t>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The acquire path: try the atomic, on failure use WFE to wait for any change to the cache line, then retry.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The release path: store, then SEV to wake any waiting cores. Reference: Linux arch/arm64 </a:t>
            </a:r>
            <a:r>
              <a:rPr sz="1100" b="0" dirty="0" err="1">
                <a:solidFill>
                  <a:srgbClr val="101010"/>
                </a:solidFill>
              </a:rPr>
              <a:t>spinlock.h</a:t>
            </a:r>
            <a:r>
              <a:rPr sz="1100" b="0" dirty="0">
                <a:solidFill>
                  <a:srgbClr val="101010"/>
                </a:solidFill>
              </a:rPr>
              <a:t>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Plug into the Wormhole shim and compare against the YIELD based versions on Graviton.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Hypothesis: at high contention, WFE saves real power and may reduce coherence traffic;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at low contention it is a wash or slightly slower because of the extra SEV.</a:t>
            </a:r>
          </a:p>
          <a:p>
            <a:pPr algn="l"/>
            <a:endParaRPr sz="1100" b="0" dirty="0">
              <a:solidFill>
                <a:srgbClr val="101010"/>
              </a:solidFill>
            </a:endParaRPr>
          </a:p>
          <a:p>
            <a:pPr algn="l"/>
            <a:r>
              <a:rPr sz="1100" b="0" dirty="0">
                <a:solidFill>
                  <a:srgbClr val="101010"/>
                </a:solidFill>
              </a:rPr>
              <a:t>Smaller items still on the list.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Get </a:t>
            </a:r>
            <a:r>
              <a:rPr sz="1100" b="0" dirty="0" err="1">
                <a:solidFill>
                  <a:srgbClr val="101010"/>
                </a:solidFill>
              </a:rPr>
              <a:t>sudo</a:t>
            </a:r>
            <a:r>
              <a:rPr sz="1100" b="0" dirty="0">
                <a:solidFill>
                  <a:srgbClr val="101010"/>
                </a:solidFill>
              </a:rPr>
              <a:t> on Xeon for one controlled run with </a:t>
            </a:r>
            <a:r>
              <a:rPr sz="1100" b="0" dirty="0" err="1">
                <a:solidFill>
                  <a:srgbClr val="101010"/>
                </a:solidFill>
              </a:rPr>
              <a:t>setup_cpu.sh</a:t>
            </a:r>
            <a:r>
              <a:rPr sz="1100" b="0" dirty="0">
                <a:solidFill>
                  <a:srgbClr val="101010"/>
                </a:solidFill>
              </a:rPr>
              <a:t>, to separate DVFS noise from real lock </a:t>
            </a:r>
            <a:r>
              <a:rPr sz="1100" b="0" dirty="0" err="1">
                <a:solidFill>
                  <a:srgbClr val="101010"/>
                </a:solidFill>
              </a:rPr>
              <a:t>behaviour</a:t>
            </a:r>
            <a:r>
              <a:rPr sz="1100" b="0" dirty="0">
                <a:solidFill>
                  <a:srgbClr val="101010"/>
                </a:solidFill>
              </a:rPr>
              <a:t>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Add Apple M3 back for the Wormhole comparison (P cores only, capped at 6T to stay homogeneous).</a:t>
            </a:r>
          </a:p>
          <a:p>
            <a:pPr algn="l"/>
            <a:r>
              <a:rPr sz="1100" b="0" dirty="0">
                <a:solidFill>
                  <a:srgbClr val="101010"/>
                </a:solidFill>
              </a:rPr>
              <a:t>   Write up the cross arch lock ranking finding (</a:t>
            </a:r>
            <a:r>
              <a:rPr sz="1100" b="0" dirty="0" err="1">
                <a:solidFill>
                  <a:srgbClr val="101010"/>
                </a:solidFill>
              </a:rPr>
              <a:t>ttas</a:t>
            </a:r>
            <a:r>
              <a:rPr sz="1100" b="0" dirty="0">
                <a:solidFill>
                  <a:srgbClr val="101010"/>
                </a:solidFill>
              </a:rPr>
              <a:t> wins more on Graviton, </a:t>
            </a:r>
            <a:r>
              <a:rPr sz="1100" b="0" dirty="0" err="1">
                <a:solidFill>
                  <a:srgbClr val="101010"/>
                </a:solidFill>
              </a:rPr>
              <a:t>cas</a:t>
            </a:r>
            <a:r>
              <a:rPr sz="1100" b="0" dirty="0">
                <a:solidFill>
                  <a:srgbClr val="101010"/>
                </a:solidFill>
              </a:rPr>
              <a:t> / ticket more on Xeon).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1402</TotalTime>
  <Words>2694</Words>
  <Application>Microsoft Macintosh PowerPoint</Application>
  <PresentationFormat>Widescreen</PresentationFormat>
  <Paragraphs>208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Andrei Pana</cp:lastModifiedBy>
  <cp:revision>6</cp:revision>
  <dcterms:created xsi:type="dcterms:W3CDTF">2013-01-27T09:14:16Z</dcterms:created>
  <dcterms:modified xsi:type="dcterms:W3CDTF">2026-05-05T14:10:30Z</dcterms:modified>
  <cp:category/>
</cp:coreProperties>
</file>