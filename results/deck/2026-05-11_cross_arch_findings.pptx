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91" r:id="rId32"/>
    <p:sldId id="292" r:id="rId33"/>
    <p:sldId id="294" r:id="rId34"/>
    <p:sldId id="295" r:id="rId35"/>
    <p:sldId id="296" r:id="rId36"/>
    <p:sldId id="298" r:id="rId37"/>
    <p:sldId id="300" r:id="rId38"/>
    <p:sldId id="301" r:id="rId39"/>
    <p:sldId id="302" r:id="rId4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0"/>
  </p:normalViewPr>
  <p:slideViewPr>
    <p:cSldViewPr snapToGrid="0" snapToObjects="1">
      <p:cViewPr varScale="1">
        <p:scale>
          <a:sx n="101" d="100"/>
          <a:sy n="101" d="100"/>
        </p:scale>
        <p:origin x="216" y="24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What was wrong with the old setup</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On every operation, each worker thread was doing three things INSIDE the timed measurement window:</a:t>
            </a:r>
          </a:p>
          <a:p>
            <a:pPr lvl="1"/>
            <a:r>
              <a:rPr sz="1600">
                <a:solidFill>
                  <a:srgbClr val="333333"/>
                </a:solidFill>
              </a:rPr>
              <a:t>   – Picking a random key according to the workload's distribution (uniform or Zipfian).</a:t>
            </a:r>
          </a:p>
          <a:p>
            <a:pPr lvl="1"/>
            <a:r>
              <a:rPr sz="1600">
                <a:solidFill>
                  <a:srgbClr val="333333"/>
                </a:solidFill>
              </a:rPr>
              <a:t>   – Deciding whether the next operation was a read, an insert, or a remove.</a:t>
            </a:r>
          </a:p>
          <a:p>
            <a:pPr lvl="1"/>
            <a:r>
              <a:rPr sz="1600">
                <a:solidFill>
                  <a:srgbClr val="333333"/>
                </a:solidFill>
              </a:rPr>
              <a:t>   – Checking a shared flag to know when the measurement was over.</a:t>
            </a:r>
          </a:p>
          <a:p>
            <a:r>
              <a:rPr sz="2000"/>
              <a:t>• For uniform workloads this cost a handful of nanoseconds. For Zipfian workloads it was much worse: the skewed-sampling math itself takes 50-80 nanoseconds per operation.</a:t>
            </a:r>
          </a:p>
          <a:p>
            <a:r>
              <a:rPr sz="2000"/>
              <a:t>• Most of the locks we test have critical sections of 30-50 ns. So workload generation was 30-60 % of measured time, and that fraction differed depending on which lock you were testing.</a:t>
            </a:r>
          </a:p>
          <a:p>
            <a:r>
              <a:rPr sz="2000"/>
              <a:t>• Conclusion: the measurement window was contaminated by per-operation overhead, and the contamination was unequally distributed across locks. Biased comparisons.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New design: pre-generate the workload before measuring</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Each worker thread now generates its own buffer of (key, operation) pairs at startup, BEFORE the timed window opens.</a:t>
            </a:r>
          </a:p>
          <a:p>
            <a:r>
              <a:rPr sz="2000"/>
              <a:t>• Same workload distribution as before: uniform or Zipfian with the same skew parameters, just computed once and stored.</a:t>
            </a:r>
          </a:p>
          <a:p>
            <a:r>
              <a:rPr sz="2000"/>
              <a:t>• During measurement, each operation is a memory read + branch into the right call. No random-number generation, no probability math.</a:t>
            </a:r>
          </a:p>
          <a:p>
            <a:r>
              <a:rPr sz="2000"/>
              <a:t>• Threads have independent buffers seeded differently, so no two workers see the same key sequence (avoids shared-bias artefacts).</a:t>
            </a:r>
          </a:p>
          <a:p>
            <a:r>
              <a:rPr sz="2000"/>
              <a:t>• Each worker starts at a different position in its buffer, so the threads aren't synchronised on the same operation at time-zero.</a:t>
            </a:r>
          </a:p>
          <a:p>
            <a:r>
              <a:rPr sz="2000"/>
              <a:t>• Net effect: the timed window now measures the lock + the index lookup, nothing else.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Did the new design itself introduce any bias?</a:t>
            </a:r>
          </a:p>
        </p:txBody>
      </p:sp>
      <p:graphicFrame>
        <p:nvGraphicFramePr>
          <p:cNvPr id="3" name="Table 2"/>
          <p:cNvGraphicFramePr>
            <a:graphicFrameLocks noGrp="1"/>
          </p:cNvGraphicFramePr>
          <p:nvPr/>
        </p:nvGraphicFramePr>
        <p:xfrm>
          <a:off x="548640" y="1371600"/>
          <a:ext cx="10972800" cy="20116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4937760">
                  <a:extLst>
                    <a:ext uri="{9D8B030D-6E8A-4147-A177-3AD203B41FA5}">
                      <a16:colId xmlns:a16="http://schemas.microsoft.com/office/drawing/2014/main" val="20003"/>
                    </a:ext>
                  </a:extLst>
                </a:gridCol>
              </a:tblGrid>
              <a:tr h="502920">
                <a:tc>
                  <a:txBody>
                    <a:bodyPr/>
                    <a:lstStyle/>
                    <a:p>
                      <a:r>
                        <a:rPr sz="1400" b="1"/>
                        <a:t>Buffer size</a:t>
                      </a:r>
                    </a:p>
                  </a:txBody>
                  <a:tcPr/>
                </a:tc>
                <a:tc>
                  <a:txBody>
                    <a:bodyPr/>
                    <a:lstStyle/>
                    <a:p>
                      <a:r>
                        <a:rPr sz="1400" b="1"/>
                        <a:t>Bytes per thread</a:t>
                      </a:r>
                    </a:p>
                  </a:txBody>
                  <a:tcPr/>
                </a:tc>
                <a:tc>
                  <a:txBody>
                    <a:bodyPr/>
                    <a:lstStyle/>
                    <a:p>
                      <a:r>
                        <a:rPr sz="1400" b="1"/>
                        <a:t>Median throughput</a:t>
                      </a:r>
                    </a:p>
                  </a:txBody>
                  <a:tcPr/>
                </a:tc>
                <a:tc>
                  <a:txBody>
                    <a:bodyPr/>
                    <a:lstStyle/>
                    <a:p>
                      <a:r>
                        <a:rPr sz="1400" b="1"/>
                        <a:t>Where it lives in the cache hierarchy</a:t>
                      </a:r>
                    </a:p>
                  </a:txBody>
                  <a:tcPr/>
                </a:tc>
                <a:extLst>
                  <a:ext uri="{0D108BD9-81ED-4DB2-BD59-A6C34878D82A}">
                    <a16:rowId xmlns:a16="http://schemas.microsoft.com/office/drawing/2014/main" val="10000"/>
                  </a:ext>
                </a:extLst>
              </a:tr>
              <a:tr h="502920">
                <a:tc>
                  <a:txBody>
                    <a:bodyPr/>
                    <a:lstStyle/>
                    <a:p>
                      <a:r>
                        <a:rPr sz="1300"/>
                        <a:t>small</a:t>
                      </a:r>
                    </a:p>
                  </a:txBody>
                  <a:tcPr/>
                </a:tc>
                <a:tc>
                  <a:txBody>
                    <a:bodyPr/>
                    <a:lstStyle/>
                    <a:p>
                      <a:r>
                        <a:rPr sz="1300"/>
                        <a:t>16 KiB</a:t>
                      </a:r>
                    </a:p>
                  </a:txBody>
                  <a:tcPr/>
                </a:tc>
                <a:tc>
                  <a:txBody>
                    <a:bodyPr/>
                    <a:lstStyle/>
                    <a:p>
                      <a:r>
                        <a:rPr sz="1300"/>
                        <a:t>87.7 M ops/s</a:t>
                      </a:r>
                    </a:p>
                  </a:txBody>
                  <a:tcPr/>
                </a:tc>
                <a:tc>
                  <a:txBody>
                    <a:bodyPr/>
                    <a:lstStyle/>
                    <a:p>
                      <a:r>
                        <a:rPr sz="1300"/>
                        <a:t>fits in L1 data cache</a:t>
                      </a:r>
                    </a:p>
                  </a:txBody>
                  <a:tcPr/>
                </a:tc>
                <a:extLst>
                  <a:ext uri="{0D108BD9-81ED-4DB2-BD59-A6C34878D82A}">
                    <a16:rowId xmlns:a16="http://schemas.microsoft.com/office/drawing/2014/main" val="10001"/>
                  </a:ext>
                </a:extLst>
              </a:tr>
              <a:tr h="502920">
                <a:tc>
                  <a:txBody>
                    <a:bodyPr/>
                    <a:lstStyle/>
                    <a:p>
                      <a:r>
                        <a:rPr sz="1300"/>
                        <a:t>default</a:t>
                      </a:r>
                    </a:p>
                  </a:txBody>
                  <a:tcPr/>
                </a:tc>
                <a:tc>
                  <a:txBody>
                    <a:bodyPr/>
                    <a:lstStyle/>
                    <a:p>
                      <a:r>
                        <a:rPr sz="1300"/>
                        <a:t>64 KiB</a:t>
                      </a:r>
                    </a:p>
                  </a:txBody>
                  <a:tcPr/>
                </a:tc>
                <a:tc>
                  <a:txBody>
                    <a:bodyPr/>
                    <a:lstStyle/>
                    <a:p>
                      <a:r>
                        <a:rPr sz="1300"/>
                        <a:t>80.8 M ops/s</a:t>
                      </a:r>
                    </a:p>
                  </a:txBody>
                  <a:tcPr/>
                </a:tc>
                <a:tc>
                  <a:txBody>
                    <a:bodyPr/>
                    <a:lstStyle/>
                    <a:p>
                      <a:r>
                        <a:rPr sz="1300"/>
                        <a:t>fits in L2 (preferred for accurate Zipfian sampling)</a:t>
                      </a:r>
                    </a:p>
                  </a:txBody>
                  <a:tcPr/>
                </a:tc>
                <a:extLst>
                  <a:ext uri="{0D108BD9-81ED-4DB2-BD59-A6C34878D82A}">
                    <a16:rowId xmlns:a16="http://schemas.microsoft.com/office/drawing/2014/main" val="10002"/>
                  </a:ext>
                </a:extLst>
              </a:tr>
              <a:tr h="502920">
                <a:tc>
                  <a:txBody>
                    <a:bodyPr/>
                    <a:lstStyle/>
                    <a:p>
                      <a:r>
                        <a:rPr sz="1300"/>
                        <a:t>large</a:t>
                      </a:r>
                    </a:p>
                  </a:txBody>
                  <a:tcPr/>
                </a:tc>
                <a:tc>
                  <a:txBody>
                    <a:bodyPr/>
                    <a:lstStyle/>
                    <a:p>
                      <a:r>
                        <a:rPr sz="1300"/>
                        <a:t>256 KiB</a:t>
                      </a:r>
                    </a:p>
                  </a:txBody>
                  <a:tcPr/>
                </a:tc>
                <a:tc>
                  <a:txBody>
                    <a:bodyPr/>
                    <a:lstStyle/>
                    <a:p>
                      <a:r>
                        <a:rPr sz="1300"/>
                        <a:t>77.4 M ops/s</a:t>
                      </a:r>
                    </a:p>
                  </a:txBody>
                  <a:tcPr/>
                </a:tc>
                <a:tc>
                  <a:txBody>
                    <a:bodyPr/>
                    <a:lstStyle/>
                    <a:p>
                      <a:r>
                        <a:rPr sz="1300"/>
                        <a:t>spills to the edge of L2</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Reading the validation (Xeon, 12 threads, 3 trials per row)</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Within each buffer size: variance below 1 % across the three trials. The new design is stable.</a:t>
            </a:r>
          </a:p>
          <a:p>
            <a:r>
              <a:rPr sz="2000"/>
              <a:t>• Across buffer sizes: a real 12 % step. Smaller buffers sit in faster cache, so the buffer walk itself is ~1 ns/op cheaper.</a:t>
            </a:r>
          </a:p>
          <a:p>
            <a:r>
              <a:rPr sz="2000"/>
              <a:t>• Crucially, that 12 % cost is paid equally by every lock variant: comparisons remain valid at any choice of buffer size.</a:t>
            </a:r>
          </a:p>
          <a:p>
            <a:r>
              <a:rPr sz="2000"/>
              <a:t>• We picked the default that lands in L2 on both architectures. Tradeoff: marginally lower absolute throughput vs better statistical fidelity for the most extreme skew level (θ=1.5), where the hot-key mass concentrates on very few buffer entries.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2. New cache-regime workload matrix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Why workloads need to target specific cache levels</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Goal: measure what a lock costs, not what memory costs.</a:t>
            </a:r>
          </a:p>
          <a:p>
            <a:r>
              <a:rPr sz="2000"/>
              <a:t>• If the index spills to DRAM, per-op memory latency (~80 ns) dominates and the lock-acquire cost (~30-50 ns) becomes a small fraction of total time. Lock differences compress.</a:t>
            </a:r>
          </a:p>
          <a:p>
            <a:r>
              <a:rPr sz="2000"/>
              <a:t>• Conversely, if every reader is touching its own L1-resident keys, there is no reader-reader contention at all: the lock is never the bottleneck.</a:t>
            </a:r>
          </a:p>
          <a:p>
            <a:r>
              <a:rPr sz="2000"/>
              <a:t>• To force the lock to be the bottleneck we need two things at once:</a:t>
            </a:r>
          </a:p>
          <a:p>
            <a:pPr lvl="1"/>
            <a:r>
              <a:rPr sz="1600">
                <a:solidFill>
                  <a:srgbClr val="333333"/>
                </a:solidFill>
              </a:rPr>
              <a:t>   – Small enough working set that memory-stall is bounded (index fits in cache).</a:t>
            </a:r>
          </a:p>
          <a:p>
            <a:pPr lvl="1"/>
            <a:r>
              <a:rPr sz="1600">
                <a:solidFill>
                  <a:srgbClr val="333333"/>
                </a:solidFill>
              </a:rPr>
              <a:t>   – Concentrated enough access pattern that multiple readers compete for the same lock instances at once.</a:t>
            </a:r>
          </a:p>
          <a:p>
            <a:r>
              <a:rPr sz="2000"/>
              <a:t>• The cache-regime matrix is engineered to deliver this. Two cache regimes x four key distributions x two op mixes.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Key distributions</a:t>
            </a:r>
          </a:p>
        </p:txBody>
      </p:sp>
      <p:graphicFrame>
        <p:nvGraphicFramePr>
          <p:cNvPr id="3" name="Table 2"/>
          <p:cNvGraphicFramePr>
            <a:graphicFrameLocks noGrp="1"/>
          </p:cNvGraphicFramePr>
          <p:nvPr/>
        </p:nvGraphicFramePr>
        <p:xfrm>
          <a:off x="548640" y="1371600"/>
          <a:ext cx="10972799" cy="242316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3749039">
                  <a:extLst>
                    <a:ext uri="{9D8B030D-6E8A-4147-A177-3AD203B41FA5}">
                      <a16:colId xmlns:a16="http://schemas.microsoft.com/office/drawing/2014/main" val="20003"/>
                    </a:ext>
                  </a:extLst>
                </a:gridCol>
              </a:tblGrid>
              <a:tr h="484632">
                <a:tc>
                  <a:txBody>
                    <a:bodyPr/>
                    <a:lstStyle/>
                    <a:p>
                      <a:r>
                        <a:rPr sz="1400" b="1"/>
                        <a:t>Distribution</a:t>
                      </a:r>
                    </a:p>
                  </a:txBody>
                  <a:tcPr/>
                </a:tc>
                <a:tc>
                  <a:txBody>
                    <a:bodyPr/>
                    <a:lstStyle/>
                    <a:p>
                      <a:r>
                        <a:rPr sz="1400" b="1"/>
                        <a:t>θ</a:t>
                      </a:r>
                    </a:p>
                  </a:txBody>
                  <a:tcPr/>
                </a:tc>
                <a:tc>
                  <a:txBody>
                    <a:bodyPr/>
                    <a:lstStyle/>
                    <a:p>
                      <a:r>
                        <a:rPr sz="1400" b="1"/>
                        <a:t>What it does</a:t>
                      </a:r>
                    </a:p>
                  </a:txBody>
                  <a:tcPr/>
                </a:tc>
                <a:tc>
                  <a:txBody>
                    <a:bodyPr/>
                    <a:lstStyle/>
                    <a:p>
                      <a:r>
                        <a:rPr sz="1400" b="1"/>
                        <a:t>Top-key mass (approx)</a:t>
                      </a:r>
                    </a:p>
                  </a:txBody>
                  <a:tcPr/>
                </a:tc>
                <a:extLst>
                  <a:ext uri="{0D108BD9-81ED-4DB2-BD59-A6C34878D82A}">
                    <a16:rowId xmlns:a16="http://schemas.microsoft.com/office/drawing/2014/main" val="10000"/>
                  </a:ext>
                </a:extLst>
              </a:tr>
              <a:tr h="484632">
                <a:tc>
                  <a:txBody>
                    <a:bodyPr/>
                    <a:lstStyle/>
                    <a:p>
                      <a:r>
                        <a:rPr sz="1300"/>
                        <a:t>uniform</a:t>
                      </a:r>
                    </a:p>
                  </a:txBody>
                  <a:tcPr/>
                </a:tc>
                <a:tc>
                  <a:txBody>
                    <a:bodyPr/>
                    <a:lstStyle/>
                    <a:p>
                      <a:r>
                        <a:rPr sz="1300"/>
                        <a:t>n/a</a:t>
                      </a:r>
                    </a:p>
                  </a:txBody>
                  <a:tcPr/>
                </a:tc>
                <a:tc>
                  <a:txBody>
                    <a:bodyPr/>
                    <a:lstStyle/>
                    <a:p>
                      <a:r>
                        <a:rPr sz="1300"/>
                        <a:t>every key equally likely; baseline with no skew</a:t>
                      </a:r>
                    </a:p>
                  </a:txBody>
                  <a:tcPr/>
                </a:tc>
                <a:tc>
                  <a:txBody>
                    <a:bodyPr/>
                    <a:lstStyle/>
                    <a:p>
                      <a:r>
                        <a:rPr sz="1300"/>
                        <a:t>1 / N (negligible)</a:t>
                      </a:r>
                    </a:p>
                  </a:txBody>
                  <a:tcPr/>
                </a:tc>
                <a:extLst>
                  <a:ext uri="{0D108BD9-81ED-4DB2-BD59-A6C34878D82A}">
                    <a16:rowId xmlns:a16="http://schemas.microsoft.com/office/drawing/2014/main" val="10001"/>
                  </a:ext>
                </a:extLst>
              </a:tr>
              <a:tr h="484632">
                <a:tc>
                  <a:txBody>
                    <a:bodyPr/>
                    <a:lstStyle/>
                    <a:p>
                      <a:r>
                        <a:rPr sz="1300"/>
                        <a:t>zipfian: warm</a:t>
                      </a:r>
                    </a:p>
                  </a:txBody>
                  <a:tcPr/>
                </a:tc>
                <a:tc>
                  <a:txBody>
                    <a:bodyPr/>
                    <a:lstStyle/>
                    <a:p>
                      <a:r>
                        <a:rPr sz="1300"/>
                        <a:t>0.99</a:t>
                      </a:r>
                    </a:p>
                  </a:txBody>
                  <a:tcPr/>
                </a:tc>
                <a:tc>
                  <a:txBody>
                    <a:bodyPr/>
                    <a:lstStyle/>
                    <a:p>
                      <a:r>
                        <a:rPr sz="1300"/>
                        <a:t>standard YCSB hot-key concentration</a:t>
                      </a:r>
                    </a:p>
                  </a:txBody>
                  <a:tcPr/>
                </a:tc>
                <a:tc>
                  <a:txBody>
                    <a:bodyPr/>
                    <a:lstStyle/>
                    <a:p>
                      <a:r>
                        <a:rPr sz="1300"/>
                        <a:t>~10 % of ops on hottest key</a:t>
                      </a:r>
                    </a:p>
                  </a:txBody>
                  <a:tcPr/>
                </a:tc>
                <a:extLst>
                  <a:ext uri="{0D108BD9-81ED-4DB2-BD59-A6C34878D82A}">
                    <a16:rowId xmlns:a16="http://schemas.microsoft.com/office/drawing/2014/main" val="10002"/>
                  </a:ext>
                </a:extLst>
              </a:tr>
              <a:tr h="484632">
                <a:tc>
                  <a:txBody>
                    <a:bodyPr/>
                    <a:lstStyle/>
                    <a:p>
                      <a:r>
                        <a:rPr sz="1300"/>
                        <a:t>zipfian: hot</a:t>
                      </a:r>
                    </a:p>
                  </a:txBody>
                  <a:tcPr/>
                </a:tc>
                <a:tc>
                  <a:txBody>
                    <a:bodyPr/>
                    <a:lstStyle/>
                    <a:p>
                      <a:r>
                        <a:rPr sz="1300"/>
                        <a:t>1.2</a:t>
                      </a:r>
                    </a:p>
                  </a:txBody>
                  <a:tcPr/>
                </a:tc>
                <a:tc>
                  <a:txBody>
                    <a:bodyPr/>
                    <a:lstStyle/>
                    <a:p>
                      <a:r>
                        <a:rPr sz="1300"/>
                        <a:t>aggressive concentration; top few keys take most ops</a:t>
                      </a:r>
                    </a:p>
                  </a:txBody>
                  <a:tcPr/>
                </a:tc>
                <a:tc>
                  <a:txBody>
                    <a:bodyPr/>
                    <a:lstStyle/>
                    <a:p>
                      <a:r>
                        <a:rPr sz="1300"/>
                        <a:t>~30 % on hottest key</a:t>
                      </a:r>
                    </a:p>
                  </a:txBody>
                  <a:tcPr/>
                </a:tc>
                <a:extLst>
                  <a:ext uri="{0D108BD9-81ED-4DB2-BD59-A6C34878D82A}">
                    <a16:rowId xmlns:a16="http://schemas.microsoft.com/office/drawing/2014/main" val="10003"/>
                  </a:ext>
                </a:extLst>
              </a:tr>
              <a:tr h="484632">
                <a:tc>
                  <a:txBody>
                    <a:bodyPr/>
                    <a:lstStyle/>
                    <a:p>
                      <a:r>
                        <a:rPr sz="1300"/>
                        <a:t>zipfian: extreme</a:t>
                      </a:r>
                    </a:p>
                  </a:txBody>
                  <a:tcPr/>
                </a:tc>
                <a:tc>
                  <a:txBody>
                    <a:bodyPr/>
                    <a:lstStyle/>
                    <a:p>
                      <a:r>
                        <a:rPr sz="1300"/>
                        <a:t>1.5</a:t>
                      </a:r>
                    </a:p>
                  </a:txBody>
                  <a:tcPr/>
                </a:tc>
                <a:tc>
                  <a:txBody>
                    <a:bodyPr/>
                    <a:lstStyle/>
                    <a:p>
                      <a:r>
                        <a:rPr sz="1300"/>
                        <a:t>near-pathological skew; bulk of ops on a handful of keys</a:t>
                      </a:r>
                    </a:p>
                  </a:txBody>
                  <a:tcPr/>
                </a:tc>
                <a:tc>
                  <a:txBody>
                    <a:bodyPr/>
                    <a:lstStyle/>
                    <a:p>
                      <a:r>
                        <a:rPr sz="1300"/>
                        <a:t>~60 % on hottest key</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4. New results from the sweep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1-thread baseline: pure microarchitectural cost</a:t>
            </a:r>
          </a:p>
        </p:txBody>
      </p:sp>
      <p:pic>
        <p:nvPicPr>
          <p:cNvPr id="3" name="Picture 2" descr="f1_1t_baseline.png"/>
          <p:cNvPicPr>
            <a:picLocks noChangeAspect="1"/>
          </p:cNvPicPr>
          <p:nvPr/>
        </p:nvPicPr>
        <p:blipFill>
          <a:blip r:embed="rId2"/>
          <a:stretch>
            <a:fillRect/>
          </a:stretch>
        </p:blipFill>
        <p:spPr>
          <a:xfrm>
            <a:off x="594360" y="1143000"/>
            <a:ext cx="10972800" cy="4731459"/>
          </a:xfrm>
          <a:prstGeom prst="rect">
            <a:avLst/>
          </a:prstGeom>
        </p:spPr>
      </p:pic>
      <p:sp>
        <p:nvSpPr>
          <p:cNvPr id="4" name="TextBox 3"/>
          <p:cNvSpPr txBox="1"/>
          <p:nvPr/>
        </p:nvSpPr>
        <p:spPr>
          <a:xfrm>
            <a:off x="548640" y="6400800"/>
            <a:ext cx="10972800" cy="365760"/>
          </a:xfrm>
          <a:prstGeom prst="rect">
            <a:avLst/>
          </a:prstGeom>
          <a:noFill/>
        </p:spPr>
        <p:txBody>
          <a:bodyPr wrap="none">
            <a:spAutoFit/>
          </a:bodyPr>
          <a:lstStyle/>
          <a:p>
            <a:pPr algn="ctr"/>
            <a:r>
              <a:rPr sz="1200">
                <a:solidFill>
                  <a:srgbClr val="555555"/>
                </a:solidFill>
              </a:rPr>
              <a:t>Uncontended: just (clock + atomic-instruction cost + DRAM). Graviton 1.20-1.34x faster, tight band.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Scaling on the headline workload: wormhole, read-heavy</a:t>
            </a:r>
          </a:p>
        </p:txBody>
      </p:sp>
      <p:pic>
        <p:nvPicPr>
          <p:cNvPr id="3" name="Picture 2" descr="f3_scaling_grid.png"/>
          <p:cNvPicPr>
            <a:picLocks noChangeAspect="1"/>
          </p:cNvPicPr>
          <p:nvPr/>
        </p:nvPicPr>
        <p:blipFill>
          <a:blip r:embed="rId2"/>
          <a:stretch>
            <a:fillRect/>
          </a:stretch>
        </p:blipFill>
        <p:spPr>
          <a:xfrm>
            <a:off x="2205394" y="1143000"/>
            <a:ext cx="7778163" cy="5212080"/>
          </a:xfrm>
          <a:prstGeom prst="rect">
            <a:avLst/>
          </a:prstGeom>
        </p:spPr>
      </p:pic>
      <p:sp>
        <p:nvSpPr>
          <p:cNvPr id="4" name="TextBox 3"/>
          <p:cNvSpPr txBox="1"/>
          <p:nvPr/>
        </p:nvSpPr>
        <p:spPr>
          <a:xfrm>
            <a:off x="548640" y="6400800"/>
            <a:ext cx="10972800" cy="365760"/>
          </a:xfrm>
          <a:prstGeom prst="rect">
            <a:avLst/>
          </a:prstGeom>
          <a:noFill/>
        </p:spPr>
        <p:txBody>
          <a:bodyPr wrap="none">
            <a:spAutoFit/>
          </a:bodyPr>
          <a:lstStyle/>
          <a:p>
            <a:pPr algn="ctr"/>
            <a:r>
              <a:rPr sz="1200">
                <a:solidFill>
                  <a:srgbClr val="555555"/>
                </a:solidFill>
              </a:rPr>
              <a:t>Rows: L1_warm | L1_extreme | L3_warm.   Columns: Xeon | Graviton.   wh-occ-opt dominates; wh-pcpu-rw v1 collapses on Graviton.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Cross-arch ratio across every (lock x workload) cell</a:t>
            </a:r>
          </a:p>
        </p:txBody>
      </p:sp>
      <p:pic>
        <p:nvPicPr>
          <p:cNvPr id="3" name="Picture 2" descr="f4_heatmap_ratio.png"/>
          <p:cNvPicPr>
            <a:picLocks noChangeAspect="1"/>
          </p:cNvPicPr>
          <p:nvPr/>
        </p:nvPicPr>
        <p:blipFill>
          <a:blip r:embed="rId2"/>
          <a:stretch>
            <a:fillRect/>
          </a:stretch>
        </p:blipFill>
        <p:spPr>
          <a:xfrm>
            <a:off x="594360" y="1143000"/>
            <a:ext cx="10972800" cy="5086419"/>
          </a:xfrm>
          <a:prstGeom prst="rect">
            <a:avLst/>
          </a:prstGeom>
        </p:spPr>
      </p:pic>
      <p:sp>
        <p:nvSpPr>
          <p:cNvPr id="4" name="TextBox 3"/>
          <p:cNvSpPr txBox="1"/>
          <p:nvPr/>
        </p:nvSpPr>
        <p:spPr>
          <a:xfrm>
            <a:off x="548640" y="6400800"/>
            <a:ext cx="10972800" cy="365760"/>
          </a:xfrm>
          <a:prstGeom prst="rect">
            <a:avLst/>
          </a:prstGeom>
          <a:noFill/>
        </p:spPr>
        <p:txBody>
          <a:bodyPr wrap="none">
            <a:spAutoFit/>
          </a:bodyPr>
          <a:lstStyle/>
          <a:p>
            <a:pPr algn="ctr"/>
            <a:r>
              <a:rPr sz="1200">
                <a:solidFill>
                  <a:srgbClr val="555555"/>
                </a:solidFill>
              </a:rPr>
              <a:t>Graviton/Xeon ratio at max threads. Green = Graviton wins. wh-pcpu-rw row breaks the pattern.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Why we added a per-core lock</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Standard reader-writer locks (including the one wormhole ships with) keep a single counter of how many readers are active.</a:t>
            </a:r>
          </a:p>
          <a:p>
            <a:r>
              <a:rPr sz="2000"/>
              <a:t>• Every reader has to atomically increment that counter to enter, and decrement to leave.</a:t>
            </a:r>
          </a:p>
          <a:p>
            <a:r>
              <a:rPr sz="2000"/>
              <a:t>• On modern multicore CPUs that counter sits on a single cache line that bounces between cores. Even though readers should run in parallel, they end up serialising on cache coherence.</a:t>
            </a:r>
          </a:p>
          <a:p>
            <a:r>
              <a:rPr sz="2000"/>
              <a:t>• This is a well-documented bottleneck: Calciu et al., "NUMA-Aware Reader-Writer Locks" (PPoPP 2013) models it analytically.</a:t>
            </a:r>
          </a:p>
          <a:p>
            <a:r>
              <a:rPr sz="2000"/>
              <a:t>• The proposed fix (used in the Linux kernel's percpu_rwsem and in academic BRAVO locks):</a:t>
            </a:r>
          </a:p>
          <a:p>
            <a:pPr lvl="1"/>
            <a:r>
              <a:rPr sz="1600">
                <a:solidFill>
                  <a:srgbClr val="333333"/>
                </a:solidFill>
              </a:rPr>
              <a:t>   – Give every thread its own reader counter, in a memory region that no other thread will touch.</a:t>
            </a:r>
          </a:p>
          <a:p>
            <a:pPr lvl="1"/>
            <a:r>
              <a:rPr sz="1600">
                <a:solidFill>
                  <a:srgbClr val="333333"/>
                </a:solidFill>
              </a:rPr>
              <a:t>   – Readers no longer compete for the same cache line: parallelism materialises.</a:t>
            </a:r>
          </a:p>
          <a:p>
            <a:r>
              <a:rPr sz="2000"/>
              <a:t>• Expected to be the headline win on read-heavy workloads, especially on ARM (where the contended-counter design hits harder).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The lock</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64 per-thread "slots": each on its own cache line. Each thread is hashed to one slot.</a:t>
            </a:r>
          </a:p>
          <a:p>
            <a:r>
              <a:rPr sz="2000"/>
              <a:t>• Reader protocol:</a:t>
            </a:r>
          </a:p>
          <a:p>
            <a:pPr lvl="1"/>
            <a:r>
              <a:rPr sz="1600">
                <a:solidFill>
                  <a:srgbClr val="333333"/>
                </a:solidFill>
              </a:rPr>
              <a:t>   – 1. Announce arrival by bumping the counter in your slot.</a:t>
            </a:r>
          </a:p>
          <a:p>
            <a:pPr lvl="1"/>
            <a:r>
              <a:rPr sz="1600">
                <a:solidFill>
                  <a:srgbClr val="333333"/>
                </a:solidFill>
              </a:rPr>
              <a:t>   – 2. Check whether a writer is currently active.</a:t>
            </a:r>
          </a:p>
          <a:p>
            <a:pPr lvl="1"/>
            <a:r>
              <a:rPr sz="1600">
                <a:solidFill>
                  <a:srgbClr val="333333"/>
                </a:solidFill>
              </a:rPr>
              <a:t>   – 3. If no writer: proceed into the critical section.</a:t>
            </a:r>
          </a:p>
          <a:p>
            <a:pPr lvl="1"/>
            <a:r>
              <a:rPr sz="1600">
                <a:solidFill>
                  <a:srgbClr val="333333"/>
                </a:solidFill>
              </a:rPr>
              <a:t>   – 4. If a writer IS active: retract (decrement your slot's counter back) and wait until the writer leaves, then retry from step 1.</a:t>
            </a:r>
          </a:p>
          <a:p>
            <a:r>
              <a:rPr sz="2000"/>
              <a:t>• Writer protocol:</a:t>
            </a:r>
          </a:p>
          <a:p>
            <a:pPr lvl="1"/>
            <a:r>
              <a:rPr sz="1600">
                <a:solidFill>
                  <a:srgbClr val="333333"/>
                </a:solidFill>
              </a:rPr>
              <a:t>   – 1. Set a flag to tell readers "writer arriving: back off."</a:t>
            </a:r>
          </a:p>
          <a:p>
            <a:pPr lvl="1"/>
            <a:r>
              <a:rPr sz="1600">
                <a:solidFill>
                  <a:srgbClr val="333333"/>
                </a:solidFill>
              </a:rPr>
              <a:t>   – 2. Scan all 64 slots, waiting for each one to drop to zero (drain in-flight readers).</a:t>
            </a:r>
          </a:p>
          <a:p>
            <a:pPr lvl="1"/>
            <a:r>
              <a:rPr sz="1600">
                <a:solidFill>
                  <a:srgbClr val="333333"/>
                </a:solidFill>
              </a:rPr>
              <a:t>   – 3. Execute the critical section.</a:t>
            </a:r>
          </a:p>
          <a:p>
            <a:pPr lvl="1"/>
            <a:r>
              <a:rPr sz="1600">
                <a:solidFill>
                  <a:srgbClr val="333333"/>
                </a:solidFill>
              </a:rPr>
              <a:t>   – 4. Clear the flag.</a:t>
            </a:r>
          </a:p>
          <a:p>
            <a:r>
              <a:rPr sz="2000"/>
              <a:t>• On paper this looks correct: no shared counter, no cache-line bouncing on the read path, writers properly serialised. The design checked out.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The surprise</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After running the full publishable sweep on both arches, the new wh-pcpu-rw row was unlike every other lock:</a:t>
            </a:r>
          </a:p>
          <a:p>
            <a:r>
              <a:rPr sz="2000"/>
              <a:t>• On Xeon: gentle drop at high T (peak 18.8 M at 4T, 10.9 M at 12T: about 40 % off peak).</a:t>
            </a:r>
          </a:p>
          <a:p>
            <a:r>
              <a:rPr sz="2000"/>
              <a:t>• On Graviton: catastrophic collapse: 4.9 M at 4T, 0.03 M at 8T. Worse than wh-default at every thread count above 2.</a:t>
            </a:r>
          </a:p>
          <a:p>
            <a:r>
              <a:rPr sz="2000"/>
              <a:t>• Inverts the cross-arch story: every OTHER lock is 1.4-2.8x faster on Graviton than on Xeon.</a:t>
            </a:r>
          </a:p>
          <a:p>
            <a:r>
              <a:rPr sz="2000"/>
              <a:t>• Reality on the workload that broke it (90/5/5, L1_warm_zipf99: small index, warm-key concentration):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endParaRPr/>
          </a:p>
        </p:txBody>
      </p:sp>
      <p:sp>
        <p:nvSpPr>
          <p:cNvPr id="3" name="TextBox 2"/>
          <p:cNvSpPr txBox="1"/>
          <p:nvPr/>
        </p:nvSpPr>
        <p:spPr>
          <a:xfrm>
            <a:off x="548640" y="1188720"/>
            <a:ext cx="10972800" cy="5303520"/>
          </a:xfrm>
          <a:prstGeom prst="rect">
            <a:avLst/>
          </a:prstGeom>
          <a:noFill/>
        </p:spPr>
        <p:txBody>
          <a:bodyPr wrap="square">
            <a:spAutoFit/>
          </a:bodyPr>
          <a:lstStyle/>
          <a:p>
            <a:r>
              <a:rPr sz="2000"/>
              <a:t>- Before running any diagnostics, I wrote down three candidate explanations and what each one would predict:</a:t>
            </a:r>
          </a:p>
          <a:p>
            <a:pPr lvl="1"/>
            <a:r>
              <a:rPr sz="1600">
                <a:solidFill>
                  <a:srgbClr val="333333"/>
                </a:solidFill>
              </a:rPr>
              <a:t>   - (H1) Hardware-specific bug: a particular thread count happens to map two threads to the same slot.</a:t>
            </a:r>
          </a:p>
          <a:p>
            <a:pPr lvl="1"/>
            <a:r>
              <a:rPr sz="1600">
                <a:solidFill>
                  <a:srgbClr val="333333"/>
                </a:solidFill>
              </a:rPr>
              <a:t>   - (H2) Memory-model bug: the lock has a latent correctness issue that ARM's weaker ordering exposes but x86's stronger ordering hides.</a:t>
            </a:r>
          </a:p>
          <a:p>
            <a:pPr lvl="1"/>
            <a:r>
              <a:rPr sz="1600">
                <a:solidFill>
                  <a:srgbClr val="333333"/>
                </a:solidFill>
              </a:rPr>
              <a:t>   - (H3) Algorithmic failure mode: the design enters a degenerate state when there's enough contention.</a:t>
            </a:r>
          </a:p>
          <a:p>
            <a:r>
              <a:rPr sz="2000"/>
              <a:t>- Predictions that distinguish them:</a:t>
            </a:r>
          </a:p>
          <a:p>
            <a:pPr lvl="1"/>
            <a:r>
              <a:rPr sz="1600">
                <a:solidFill>
                  <a:srgbClr val="333333"/>
                </a:solidFill>
              </a:rPr>
              <a:t>   - (H1) would show a discrete cliff at one specific thread count, with normal behaviour above and below.</a:t>
            </a:r>
          </a:p>
          <a:p>
            <a:pPr lvl="1"/>
            <a:r>
              <a:rPr sz="1600">
                <a:solidFill>
                  <a:srgbClr val="333333"/>
                </a:solidFill>
              </a:rPr>
              <a:t>   - (H2) would manifest at any thread count and any writer rate, possibly as wrong answers from the lock (correctness, not performance).</a:t>
            </a:r>
          </a:p>
          <a:p>
            <a:pPr lvl="1"/>
            <a:r>
              <a:rPr sz="1600">
                <a:solidFill>
                  <a:srgbClr val="333333"/>
                </a:solidFill>
              </a:rPr>
              <a:t>   - (H3) would show smooth degradation as contention increases along either axis (more threads, or more writers).</a:t>
            </a:r>
          </a:p>
          <a:p>
            <a:r>
              <a:rPr sz="2000"/>
              <a:t>- Three diagnostic experiments designed to discriminate. Plus one cross-check on the bare lock primitive (no wormhole around it), to isolate the lock from the data structure.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Diagnostic 0a: thread sweep on Graviton2  (90/5/5, L1_warm_zipf99)</a:t>
            </a:r>
          </a:p>
        </p:txBody>
      </p:sp>
      <p:graphicFrame>
        <p:nvGraphicFramePr>
          <p:cNvPr id="3" name="Table 2"/>
          <p:cNvGraphicFramePr>
            <a:graphicFrameLocks noGrp="1"/>
          </p:cNvGraphicFramePr>
          <p:nvPr/>
        </p:nvGraphicFramePr>
        <p:xfrm>
          <a:off x="548640" y="1371600"/>
          <a:ext cx="10058400" cy="32461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63731">
                <a:tc>
                  <a:txBody>
                    <a:bodyPr/>
                    <a:lstStyle/>
                    <a:p>
                      <a:r>
                        <a:rPr sz="1400" b="1"/>
                        <a:t>threads</a:t>
                      </a:r>
                    </a:p>
                  </a:txBody>
                  <a:tcPr/>
                </a:tc>
                <a:tc>
                  <a:txBody>
                    <a:bodyPr/>
                    <a:lstStyle/>
                    <a:p>
                      <a:r>
                        <a:rPr sz="1400" b="1"/>
                        <a:t>median (M/s)</a:t>
                      </a:r>
                    </a:p>
                  </a:txBody>
                  <a:tcPr/>
                </a:tc>
                <a:tc>
                  <a:txBody>
                    <a:bodyPr/>
                    <a:lstStyle/>
                    <a:p>
                      <a:r>
                        <a:rPr sz="1400" b="1"/>
                        <a:t>trial spread</a:t>
                      </a:r>
                    </a:p>
                  </a:txBody>
                  <a:tcPr/>
                </a:tc>
                <a:tc>
                  <a:txBody>
                    <a:bodyPr/>
                    <a:lstStyle/>
                    <a:p>
                      <a:r>
                        <a:rPr sz="1400" b="1"/>
                        <a:t>scaling vs 1T</a:t>
                      </a:r>
                    </a:p>
                  </a:txBody>
                  <a:tcPr/>
                </a:tc>
                <a:tc>
                  <a:txBody>
                    <a:bodyPr/>
                    <a:lstStyle/>
                    <a:p>
                      <a:r>
                        <a:rPr sz="1400" b="1"/>
                        <a:t>trial CoV</a:t>
                      </a:r>
                    </a:p>
                  </a:txBody>
                  <a:tcPr/>
                </a:tc>
                <a:extLst>
                  <a:ext uri="{0D108BD9-81ED-4DB2-BD59-A6C34878D82A}">
                    <a16:rowId xmlns:a16="http://schemas.microsoft.com/office/drawing/2014/main" val="10000"/>
                  </a:ext>
                </a:extLst>
              </a:tr>
              <a:tr h="463731">
                <a:tc>
                  <a:txBody>
                    <a:bodyPr/>
                    <a:lstStyle/>
                    <a:p>
                      <a:r>
                        <a:rPr sz="1300"/>
                        <a:t>1</a:t>
                      </a:r>
                    </a:p>
                  </a:txBody>
                  <a:tcPr/>
                </a:tc>
                <a:tc>
                  <a:txBody>
                    <a:bodyPr/>
                    <a:lstStyle/>
                    <a:p>
                      <a:r>
                        <a:rPr sz="1300"/>
                        <a:t>17.28</a:t>
                      </a:r>
                    </a:p>
                  </a:txBody>
                  <a:tcPr/>
                </a:tc>
                <a:tc>
                  <a:txBody>
                    <a:bodyPr/>
                    <a:lstStyle/>
                    <a:p>
                      <a:r>
                        <a:rPr sz="1300"/>
                        <a:t>17.28 - 17.40</a:t>
                      </a:r>
                    </a:p>
                  </a:txBody>
                  <a:tcPr/>
                </a:tc>
                <a:tc>
                  <a:txBody>
                    <a:bodyPr/>
                    <a:lstStyle/>
                    <a:p>
                      <a:r>
                        <a:rPr sz="1300"/>
                        <a:t>1.00x</a:t>
                      </a:r>
                    </a:p>
                  </a:txBody>
                  <a:tcPr/>
                </a:tc>
                <a:tc>
                  <a:txBody>
                    <a:bodyPr/>
                    <a:lstStyle/>
                    <a:p>
                      <a:r>
                        <a:rPr sz="1300"/>
                        <a:t>&lt; 1 %</a:t>
                      </a:r>
                    </a:p>
                  </a:txBody>
                  <a:tcPr/>
                </a:tc>
                <a:extLst>
                  <a:ext uri="{0D108BD9-81ED-4DB2-BD59-A6C34878D82A}">
                    <a16:rowId xmlns:a16="http://schemas.microsoft.com/office/drawing/2014/main" val="10001"/>
                  </a:ext>
                </a:extLst>
              </a:tr>
              <a:tr h="463731">
                <a:tc>
                  <a:txBody>
                    <a:bodyPr/>
                    <a:lstStyle/>
                    <a:p>
                      <a:r>
                        <a:rPr sz="1300"/>
                        <a:t>2</a:t>
                      </a:r>
                    </a:p>
                  </a:txBody>
                  <a:tcPr/>
                </a:tc>
                <a:tc>
                  <a:txBody>
                    <a:bodyPr/>
                    <a:lstStyle/>
                    <a:p>
                      <a:r>
                        <a:rPr sz="1300"/>
                        <a:t>17.74</a:t>
                      </a:r>
                    </a:p>
                  </a:txBody>
                  <a:tcPr/>
                </a:tc>
                <a:tc>
                  <a:txBody>
                    <a:bodyPr/>
                    <a:lstStyle/>
                    <a:p>
                      <a:r>
                        <a:rPr sz="1300"/>
                        <a:t>15.70 - 20.45</a:t>
                      </a:r>
                    </a:p>
                  </a:txBody>
                  <a:tcPr/>
                </a:tc>
                <a:tc>
                  <a:txBody>
                    <a:bodyPr/>
                    <a:lstStyle/>
                    <a:p>
                      <a:r>
                        <a:rPr sz="1300"/>
                        <a:t>1.03x</a:t>
                      </a:r>
                    </a:p>
                  </a:txBody>
                  <a:tcPr/>
                </a:tc>
                <a:tc>
                  <a:txBody>
                    <a:bodyPr/>
                    <a:lstStyle/>
                    <a:p>
                      <a:r>
                        <a:rPr sz="1300"/>
                        <a:t>13 %</a:t>
                      </a:r>
                    </a:p>
                  </a:txBody>
                  <a:tcPr/>
                </a:tc>
                <a:extLst>
                  <a:ext uri="{0D108BD9-81ED-4DB2-BD59-A6C34878D82A}">
                    <a16:rowId xmlns:a16="http://schemas.microsoft.com/office/drawing/2014/main" val="10002"/>
                  </a:ext>
                </a:extLst>
              </a:tr>
              <a:tr h="463731">
                <a:tc>
                  <a:txBody>
                    <a:bodyPr/>
                    <a:lstStyle/>
                    <a:p>
                      <a:r>
                        <a:rPr sz="1300"/>
                        <a:t>3</a:t>
                      </a:r>
                    </a:p>
                  </a:txBody>
                  <a:tcPr/>
                </a:tc>
                <a:tc>
                  <a:txBody>
                    <a:bodyPr/>
                    <a:lstStyle/>
                    <a:p>
                      <a:r>
                        <a:rPr sz="1300"/>
                        <a:t>12.46</a:t>
                      </a:r>
                    </a:p>
                  </a:txBody>
                  <a:tcPr/>
                </a:tc>
                <a:tc>
                  <a:txBody>
                    <a:bodyPr/>
                    <a:lstStyle/>
                    <a:p>
                      <a:r>
                        <a:rPr sz="1300"/>
                        <a:t>9.61 - 14.88</a:t>
                      </a:r>
                    </a:p>
                  </a:txBody>
                  <a:tcPr/>
                </a:tc>
                <a:tc>
                  <a:txBody>
                    <a:bodyPr/>
                    <a:lstStyle/>
                    <a:p>
                      <a:r>
                        <a:rPr sz="1300"/>
                        <a:t>0.72x</a:t>
                      </a:r>
                    </a:p>
                  </a:txBody>
                  <a:tcPr/>
                </a:tc>
                <a:tc>
                  <a:txBody>
                    <a:bodyPr/>
                    <a:lstStyle/>
                    <a:p>
                      <a:r>
                        <a:rPr sz="1300"/>
                        <a:t>21 %</a:t>
                      </a:r>
                    </a:p>
                  </a:txBody>
                  <a:tcPr/>
                </a:tc>
                <a:extLst>
                  <a:ext uri="{0D108BD9-81ED-4DB2-BD59-A6C34878D82A}">
                    <a16:rowId xmlns:a16="http://schemas.microsoft.com/office/drawing/2014/main" val="10003"/>
                  </a:ext>
                </a:extLst>
              </a:tr>
              <a:tr h="463731">
                <a:tc>
                  <a:txBody>
                    <a:bodyPr/>
                    <a:lstStyle/>
                    <a:p>
                      <a:r>
                        <a:rPr sz="1300"/>
                        <a:t>4</a:t>
                      </a:r>
                    </a:p>
                  </a:txBody>
                  <a:tcPr/>
                </a:tc>
                <a:tc>
                  <a:txBody>
                    <a:bodyPr/>
                    <a:lstStyle/>
                    <a:p>
                      <a:r>
                        <a:rPr sz="1300"/>
                        <a:t>2.99</a:t>
                      </a:r>
                    </a:p>
                  </a:txBody>
                  <a:tcPr/>
                </a:tc>
                <a:tc>
                  <a:txBody>
                    <a:bodyPr/>
                    <a:lstStyle/>
                    <a:p>
                      <a:r>
                        <a:rPr sz="1300"/>
                        <a:t>2.19 - 5.53</a:t>
                      </a:r>
                    </a:p>
                  </a:txBody>
                  <a:tcPr/>
                </a:tc>
                <a:tc>
                  <a:txBody>
                    <a:bodyPr/>
                    <a:lstStyle/>
                    <a:p>
                      <a:r>
                        <a:rPr sz="1300"/>
                        <a:t>0.17x</a:t>
                      </a:r>
                    </a:p>
                  </a:txBody>
                  <a:tcPr/>
                </a:tc>
                <a:tc>
                  <a:txBody>
                    <a:bodyPr/>
                    <a:lstStyle/>
                    <a:p>
                      <a:r>
                        <a:rPr sz="1300"/>
                        <a:t>57 %</a:t>
                      </a:r>
                    </a:p>
                  </a:txBody>
                  <a:tcPr/>
                </a:tc>
                <a:extLst>
                  <a:ext uri="{0D108BD9-81ED-4DB2-BD59-A6C34878D82A}">
                    <a16:rowId xmlns:a16="http://schemas.microsoft.com/office/drawing/2014/main" val="10004"/>
                  </a:ext>
                </a:extLst>
              </a:tr>
              <a:tr h="463731">
                <a:tc>
                  <a:txBody>
                    <a:bodyPr/>
                    <a:lstStyle/>
                    <a:p>
                      <a:r>
                        <a:rPr sz="1300"/>
                        <a:t>5</a:t>
                      </a:r>
                    </a:p>
                  </a:txBody>
                  <a:tcPr/>
                </a:tc>
                <a:tc>
                  <a:txBody>
                    <a:bodyPr/>
                    <a:lstStyle/>
                    <a:p>
                      <a:r>
                        <a:rPr sz="1300"/>
                        <a:t>0.58</a:t>
                      </a:r>
                    </a:p>
                  </a:txBody>
                  <a:tcPr/>
                </a:tc>
                <a:tc>
                  <a:txBody>
                    <a:bodyPr/>
                    <a:lstStyle/>
                    <a:p>
                      <a:r>
                        <a:rPr sz="1300"/>
                        <a:t>0.58 - 0.72</a:t>
                      </a:r>
                    </a:p>
                  </a:txBody>
                  <a:tcPr/>
                </a:tc>
                <a:tc>
                  <a:txBody>
                    <a:bodyPr/>
                    <a:lstStyle/>
                    <a:p>
                      <a:r>
                        <a:rPr sz="1300"/>
                        <a:t>0.034x</a:t>
                      </a:r>
                    </a:p>
                  </a:txBody>
                  <a:tcPr/>
                </a:tc>
                <a:tc>
                  <a:txBody>
                    <a:bodyPr/>
                    <a:lstStyle/>
                    <a:p>
                      <a:r>
                        <a:rPr sz="1300"/>
                        <a:t>12 %</a:t>
                      </a:r>
                    </a:p>
                  </a:txBody>
                  <a:tcPr/>
                </a:tc>
                <a:extLst>
                  <a:ext uri="{0D108BD9-81ED-4DB2-BD59-A6C34878D82A}">
                    <a16:rowId xmlns:a16="http://schemas.microsoft.com/office/drawing/2014/main" val="10005"/>
                  </a:ext>
                </a:extLst>
              </a:tr>
              <a:tr h="463734">
                <a:tc>
                  <a:txBody>
                    <a:bodyPr/>
                    <a:lstStyle/>
                    <a:p>
                      <a:r>
                        <a:rPr sz="1300"/>
                        <a:t>6</a:t>
                      </a:r>
                    </a:p>
                  </a:txBody>
                  <a:tcPr/>
                </a:tc>
                <a:tc>
                  <a:txBody>
                    <a:bodyPr/>
                    <a:lstStyle/>
                    <a:p>
                      <a:r>
                        <a:rPr sz="1300"/>
                        <a:t>0.15</a:t>
                      </a:r>
                    </a:p>
                  </a:txBody>
                  <a:tcPr/>
                </a:tc>
                <a:tc>
                  <a:txBody>
                    <a:bodyPr/>
                    <a:lstStyle/>
                    <a:p>
                      <a:r>
                        <a:rPr sz="1300"/>
                        <a:t>0.14 - 0.43</a:t>
                      </a:r>
                    </a:p>
                  </a:txBody>
                  <a:tcPr/>
                </a:tc>
                <a:tc>
                  <a:txBody>
                    <a:bodyPr/>
                    <a:lstStyle/>
                    <a:p>
                      <a:r>
                        <a:rPr sz="1300"/>
                        <a:t>0.009x</a:t>
                      </a:r>
                    </a:p>
                  </a:txBody>
                  <a:tcPr/>
                </a:tc>
                <a:tc>
                  <a:txBody>
                    <a:bodyPr/>
                    <a:lstStyle/>
                    <a:p>
                      <a:r>
                        <a:rPr sz="1300"/>
                        <a:t>100 %</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What 0a discriminates</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Smooth feedback degradation 1T -&gt; 6T. NOT a step function: rules out (H1) discrete collision.</a:t>
            </a:r>
          </a:p>
          <a:p>
            <a:r>
              <a:rPr sz="2000"/>
              <a:t>• 2T already isn't scaling: a reader-scalable rwlock should give ~1.8x at 2T on 90 % reads; we get 1.03x.</a:t>
            </a:r>
          </a:p>
          <a:p>
            <a:r>
              <a:rPr sz="2000"/>
              <a:t>• Trial variance grows monotonically with thread count. The collapse is non-deterministic: exact equilibrium depends on writer/reader race outcomes.</a:t>
            </a:r>
          </a:p>
          <a:p>
            <a:r>
              <a:rPr sz="2000"/>
              <a:t>• Pattern is exactly what (H3) predicts: contention triggers a degenerate state. The next diagnostic isolates the trigger.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Diagnostic 0b: isolate the trigger by varying writers</a:t>
            </a:r>
          </a:p>
        </p:txBody>
      </p:sp>
      <p:pic>
        <p:nvPicPr>
          <p:cNvPr id="3" name="Picture 2" descr="f6_pcpu_readpct.png"/>
          <p:cNvPicPr>
            <a:picLocks noChangeAspect="1"/>
          </p:cNvPicPr>
          <p:nvPr/>
        </p:nvPicPr>
        <p:blipFill>
          <a:blip r:embed="rId2"/>
          <a:stretch>
            <a:fillRect/>
          </a:stretch>
        </p:blipFill>
        <p:spPr>
          <a:xfrm>
            <a:off x="594360" y="1143000"/>
            <a:ext cx="10972800" cy="5156483"/>
          </a:xfrm>
          <a:prstGeom prst="rect">
            <a:avLst/>
          </a:prstGeom>
        </p:spPr>
      </p:pic>
      <p:sp>
        <p:nvSpPr>
          <p:cNvPr id="4" name="TextBox 3"/>
          <p:cNvSpPr txBox="1"/>
          <p:nvPr/>
        </p:nvSpPr>
        <p:spPr>
          <a:xfrm>
            <a:off x="548640" y="6400800"/>
            <a:ext cx="10972800" cy="365760"/>
          </a:xfrm>
          <a:prstGeom prst="rect">
            <a:avLst/>
          </a:prstGeom>
          <a:noFill/>
        </p:spPr>
        <p:txBody>
          <a:bodyPr wrap="none">
            <a:spAutoFit/>
          </a:bodyPr>
          <a:lstStyle/>
          <a:p>
            <a:pPr algn="ctr"/>
            <a:r>
              <a:rPr sz="1200">
                <a:solidFill>
                  <a:srgbClr val="555555"/>
                </a:solidFill>
              </a:rPr>
              <a:t>Fix threads = 4, fix skew = θ=0.99, vary read_pct.  100 % reads scales super-linearly to 75.6 M (4.37x single-thread).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What 0b proves</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At 100 % reads: 4 threads deliver 4.37x of single-thread throughput. The super-linear result confirms the data layout works as designed: each thread has its own piece of memory and they don't compete for cache.</a:t>
            </a:r>
          </a:p>
          <a:p>
            <a:r>
              <a:rPr sz="2000"/>
              <a:t>• The per-CPU slot machinery WORKS when there are no writers. The design is sound on the read dimension.</a:t>
            </a:r>
          </a:p>
          <a:p>
            <a:r>
              <a:rPr sz="2000"/>
              <a:t>• One percent writers (99/0/1): throughput drops 43 %. A 1-in-100 event costs more than half of available throughput.</a:t>
            </a:r>
          </a:p>
          <a:p>
            <a:r>
              <a:rPr sz="2000"/>
              <a:t>• Five percent writers (95/2/3): throughput drops 94 %. Same pattern, larger trigger rate.</a:t>
            </a:r>
          </a:p>
          <a:p>
            <a:r>
              <a:rPr sz="2000"/>
              <a:t>• Conclusion: the bug is in the writer-reader handshake, not the slot infrastructure. (H3) confirmed on the writer-rate axis.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Diagnostic 0c: is wormhole amplifying the failure?</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Ran the bare primitive in the lockbench microbench (bench/main.cpp): one global pcpu_rw_lock, no wormhole call pattern.</a:t>
            </a:r>
          </a:p>
          <a:p>
            <a:r>
              <a:rPr sz="2000"/>
              <a:t>• Same 90 % read mix, same compact_phys pinning, same threading.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Diagnostic 0c: bare pcpu_rw_lock (no wormhole), Graviton2, 90 % reads</a:t>
            </a:r>
          </a:p>
        </p:txBody>
      </p:sp>
      <p:graphicFrame>
        <p:nvGraphicFramePr>
          <p:cNvPr id="3" name="Table 2"/>
          <p:cNvGraphicFramePr>
            <a:graphicFrameLocks noGrp="1"/>
          </p:cNvGraphicFramePr>
          <p:nvPr/>
        </p:nvGraphicFramePr>
        <p:xfrm>
          <a:off x="548640" y="1371600"/>
          <a:ext cx="10241280" cy="324612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tblGrid>
              <a:tr h="463731">
                <a:tc>
                  <a:txBody>
                    <a:bodyPr/>
                    <a:lstStyle/>
                    <a:p>
                      <a:r>
                        <a:rPr sz="1400" b="1"/>
                        <a:t>threads</a:t>
                      </a:r>
                    </a:p>
                  </a:txBody>
                  <a:tcPr/>
                </a:tc>
                <a:tc>
                  <a:txBody>
                    <a:bodyPr/>
                    <a:lstStyle/>
                    <a:p>
                      <a:r>
                        <a:rPr sz="1400" b="1"/>
                        <a:t>median (M ops/s)</a:t>
                      </a:r>
                    </a:p>
                  </a:txBody>
                  <a:tcPr/>
                </a:tc>
                <a:tc>
                  <a:txBody>
                    <a:bodyPr/>
                    <a:lstStyle/>
                    <a:p>
                      <a:r>
                        <a:rPr sz="1400" b="1"/>
                        <a:t>scaling vs 1T</a:t>
                      </a:r>
                    </a:p>
                  </a:txBody>
                  <a:tcPr/>
                </a:tc>
                <a:tc>
                  <a:txBody>
                    <a:bodyPr/>
                    <a:lstStyle/>
                    <a:p>
                      <a:r>
                        <a:rPr sz="1400" b="1"/>
                        <a:t>vs wormhole at same T</a:t>
                      </a:r>
                    </a:p>
                  </a:txBody>
                  <a:tcPr/>
                </a:tc>
                <a:extLst>
                  <a:ext uri="{0D108BD9-81ED-4DB2-BD59-A6C34878D82A}">
                    <a16:rowId xmlns:a16="http://schemas.microsoft.com/office/drawing/2014/main" val="10000"/>
                  </a:ext>
                </a:extLst>
              </a:tr>
              <a:tr h="463731">
                <a:tc>
                  <a:txBody>
                    <a:bodyPr/>
                    <a:lstStyle/>
                    <a:p>
                      <a:r>
                        <a:rPr sz="1300"/>
                        <a:t>1</a:t>
                      </a:r>
                    </a:p>
                  </a:txBody>
                  <a:tcPr/>
                </a:tc>
                <a:tc>
                  <a:txBody>
                    <a:bodyPr/>
                    <a:lstStyle/>
                    <a:p>
                      <a:r>
                        <a:rPr sz="1300"/>
                        <a:t>62.08</a:t>
                      </a:r>
                    </a:p>
                  </a:txBody>
                  <a:tcPr/>
                </a:tc>
                <a:tc>
                  <a:txBody>
                    <a:bodyPr/>
                    <a:lstStyle/>
                    <a:p>
                      <a:r>
                        <a:rPr sz="1300"/>
                        <a:t>1.00x</a:t>
                      </a:r>
                    </a:p>
                  </a:txBody>
                  <a:tcPr/>
                </a:tc>
                <a:tc>
                  <a:txBody>
                    <a:bodyPr/>
                    <a:lstStyle/>
                    <a:p>
                      <a:r>
                        <a:rPr sz="1300"/>
                        <a:t>wh: 17.3 M  -&gt;  microbench is 3.6x faster (no leaf walk)</a:t>
                      </a:r>
                    </a:p>
                  </a:txBody>
                  <a:tcPr/>
                </a:tc>
                <a:extLst>
                  <a:ext uri="{0D108BD9-81ED-4DB2-BD59-A6C34878D82A}">
                    <a16:rowId xmlns:a16="http://schemas.microsoft.com/office/drawing/2014/main" val="10001"/>
                  </a:ext>
                </a:extLst>
              </a:tr>
              <a:tr h="463731">
                <a:tc>
                  <a:txBody>
                    <a:bodyPr/>
                    <a:lstStyle/>
                    <a:p>
                      <a:r>
                        <a:rPr sz="1300"/>
                        <a:t>2</a:t>
                      </a:r>
                    </a:p>
                  </a:txBody>
                  <a:tcPr/>
                </a:tc>
                <a:tc>
                  <a:txBody>
                    <a:bodyPr/>
                    <a:lstStyle/>
                    <a:p>
                      <a:r>
                        <a:rPr sz="1300"/>
                        <a:t>28.17</a:t>
                      </a:r>
                    </a:p>
                  </a:txBody>
                  <a:tcPr/>
                </a:tc>
                <a:tc>
                  <a:txBody>
                    <a:bodyPr/>
                    <a:lstStyle/>
                    <a:p>
                      <a:r>
                        <a:rPr sz="1300"/>
                        <a:t>0.45x</a:t>
                      </a:r>
                    </a:p>
                  </a:txBody>
                  <a:tcPr/>
                </a:tc>
                <a:tc>
                  <a:txBody>
                    <a:bodyPr/>
                    <a:lstStyle/>
                    <a:p>
                      <a:endParaRPr/>
                    </a:p>
                  </a:txBody>
                  <a:tcPr/>
                </a:tc>
                <a:extLst>
                  <a:ext uri="{0D108BD9-81ED-4DB2-BD59-A6C34878D82A}">
                    <a16:rowId xmlns:a16="http://schemas.microsoft.com/office/drawing/2014/main" val="10002"/>
                  </a:ext>
                </a:extLst>
              </a:tr>
              <a:tr h="463731">
                <a:tc>
                  <a:txBody>
                    <a:bodyPr/>
                    <a:lstStyle/>
                    <a:p>
                      <a:r>
                        <a:rPr sz="1300"/>
                        <a:t>3</a:t>
                      </a:r>
                    </a:p>
                  </a:txBody>
                  <a:tcPr/>
                </a:tc>
                <a:tc>
                  <a:txBody>
                    <a:bodyPr/>
                    <a:lstStyle/>
                    <a:p>
                      <a:r>
                        <a:rPr sz="1300"/>
                        <a:t>23.09</a:t>
                      </a:r>
                    </a:p>
                  </a:txBody>
                  <a:tcPr/>
                </a:tc>
                <a:tc>
                  <a:txBody>
                    <a:bodyPr/>
                    <a:lstStyle/>
                    <a:p>
                      <a:r>
                        <a:rPr sz="1300"/>
                        <a:t>0.37x</a:t>
                      </a:r>
                    </a:p>
                  </a:txBody>
                  <a:tcPr/>
                </a:tc>
                <a:tc>
                  <a:txBody>
                    <a:bodyPr/>
                    <a:lstStyle/>
                    <a:p>
                      <a:endParaRPr/>
                    </a:p>
                  </a:txBody>
                  <a:tcPr/>
                </a:tc>
                <a:extLst>
                  <a:ext uri="{0D108BD9-81ED-4DB2-BD59-A6C34878D82A}">
                    <a16:rowId xmlns:a16="http://schemas.microsoft.com/office/drawing/2014/main" val="10003"/>
                  </a:ext>
                </a:extLst>
              </a:tr>
              <a:tr h="463731">
                <a:tc>
                  <a:txBody>
                    <a:bodyPr/>
                    <a:lstStyle/>
                    <a:p>
                      <a:r>
                        <a:rPr sz="1300"/>
                        <a:t>4</a:t>
                      </a:r>
                    </a:p>
                  </a:txBody>
                  <a:tcPr/>
                </a:tc>
                <a:tc>
                  <a:txBody>
                    <a:bodyPr/>
                    <a:lstStyle/>
                    <a:p>
                      <a:r>
                        <a:rPr sz="1300"/>
                        <a:t>19.30</a:t>
                      </a:r>
                    </a:p>
                  </a:txBody>
                  <a:tcPr/>
                </a:tc>
                <a:tc>
                  <a:txBody>
                    <a:bodyPr/>
                    <a:lstStyle/>
                    <a:p>
                      <a:r>
                        <a:rPr sz="1300"/>
                        <a:t>0.31x</a:t>
                      </a:r>
                    </a:p>
                  </a:txBody>
                  <a:tcPr/>
                </a:tc>
                <a:tc>
                  <a:txBody>
                    <a:bodyPr/>
                    <a:lstStyle/>
                    <a:p>
                      <a:r>
                        <a:rPr sz="1300"/>
                        <a:t>wh: 4.9 M  -&gt;  4x amplification</a:t>
                      </a:r>
                    </a:p>
                  </a:txBody>
                  <a:tcPr/>
                </a:tc>
                <a:extLst>
                  <a:ext uri="{0D108BD9-81ED-4DB2-BD59-A6C34878D82A}">
                    <a16:rowId xmlns:a16="http://schemas.microsoft.com/office/drawing/2014/main" val="10004"/>
                  </a:ext>
                </a:extLst>
              </a:tr>
              <a:tr h="463731">
                <a:tc>
                  <a:txBody>
                    <a:bodyPr/>
                    <a:lstStyle/>
                    <a:p>
                      <a:r>
                        <a:rPr sz="1300"/>
                        <a:t>5</a:t>
                      </a:r>
                    </a:p>
                  </a:txBody>
                  <a:tcPr/>
                </a:tc>
                <a:tc>
                  <a:txBody>
                    <a:bodyPr/>
                    <a:lstStyle/>
                    <a:p>
                      <a:r>
                        <a:rPr sz="1300"/>
                        <a:t>17.88</a:t>
                      </a:r>
                    </a:p>
                  </a:txBody>
                  <a:tcPr/>
                </a:tc>
                <a:tc>
                  <a:txBody>
                    <a:bodyPr/>
                    <a:lstStyle/>
                    <a:p>
                      <a:r>
                        <a:rPr sz="1300"/>
                        <a:t>0.29x</a:t>
                      </a:r>
                    </a:p>
                  </a:txBody>
                  <a:tcPr/>
                </a:tc>
                <a:tc>
                  <a:txBody>
                    <a:bodyPr/>
                    <a:lstStyle/>
                    <a:p>
                      <a:endParaRPr/>
                    </a:p>
                  </a:txBody>
                  <a:tcPr/>
                </a:tc>
                <a:extLst>
                  <a:ext uri="{0D108BD9-81ED-4DB2-BD59-A6C34878D82A}">
                    <a16:rowId xmlns:a16="http://schemas.microsoft.com/office/drawing/2014/main" val="10005"/>
                  </a:ext>
                </a:extLst>
              </a:tr>
              <a:tr h="463734">
                <a:tc>
                  <a:txBody>
                    <a:bodyPr/>
                    <a:lstStyle/>
                    <a:p>
                      <a:r>
                        <a:rPr sz="1300"/>
                        <a:t>6</a:t>
                      </a:r>
                    </a:p>
                  </a:txBody>
                  <a:tcPr/>
                </a:tc>
                <a:tc>
                  <a:txBody>
                    <a:bodyPr/>
                    <a:lstStyle/>
                    <a:p>
                      <a:r>
                        <a:rPr sz="1300"/>
                        <a:t>12.90</a:t>
                      </a:r>
                    </a:p>
                  </a:txBody>
                  <a:tcPr/>
                </a:tc>
                <a:tc>
                  <a:txBody>
                    <a:bodyPr/>
                    <a:lstStyle/>
                    <a:p>
                      <a:r>
                        <a:rPr sz="1300"/>
                        <a:t>0.21x</a:t>
                      </a:r>
                    </a:p>
                  </a:txBody>
                  <a:tcPr/>
                </a:tc>
                <a:tc>
                  <a:txBody>
                    <a:bodyPr/>
                    <a:lstStyle/>
                    <a:p>
                      <a:r>
                        <a:rPr sz="1300"/>
                        <a:t>wh: 0.15 M  -&gt;  86x amplification</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What 0c tells us</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The bare primitive ALSO fails to scale: 1T -&gt; 6T loses 79 % of throughput. The bug is in the lock, not wormhole.</a:t>
            </a:r>
          </a:p>
          <a:p>
            <a:r>
              <a:rPr sz="2000"/>
              <a:t>• BUT the bare primitive is much milder: 6T = 12.9 M ops/s. Wormhole-amplified = 0.15 M ops/s. 86x amplification.</a:t>
            </a:r>
          </a:p>
          <a:p>
            <a:r>
              <a:rPr sz="2000"/>
              <a:t>• Two amplification mechanisms identified:</a:t>
            </a:r>
          </a:p>
          <a:p>
            <a:pPr lvl="1"/>
            <a:r>
              <a:rPr sz="1600">
                <a:solidFill>
                  <a:srgbClr val="333333"/>
                </a:solidFill>
              </a:rPr>
              <a:t>   – Two locks per operation. Wormhole takes a global "index-level" lock AND a "leaf-level" lock on every read or write: both of these were swapped for our per-core lock. So every writer event triggers the herd on whichever of the two locks it touched. With 10 % writers overall, both locks are in herd state at the same time.</a:t>
            </a:r>
          </a:p>
          <a:p>
            <a:pPr lvl="1"/>
            <a:r>
              <a:rPr sz="1600">
                <a:solidFill>
                  <a:srgbClr val="333333"/>
                </a:solidFill>
              </a:rPr>
              <a:t>   – Writer critical sections are much longer in a real index. In the microbench, a writer just increments a counter (~10 ns). In wormhole, a writer sorts a leaf, inserts a key-value pair, and occasionally resizes: hundreds of ns. While the writer is working, all readers are spinning uselessly. Longer writer work = more reader spin = more thrashing.</a:t>
            </a:r>
          </a:p>
          <a:p>
            <a:r>
              <a:rPr sz="2000"/>
              <a:t>• Estimated amplification: (2 locks) x (CS-length ratio ~30x) approx 60-100x. Matches the observed 86x.</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Diagnosis: what's actually happening</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Picture the steady state: N readers, each working in their own slot, no one blocking anyone. Throughput is high.</a:t>
            </a:r>
          </a:p>
          <a:p>
            <a:r>
              <a:rPr sz="2000"/>
              <a:t>• A writer arrives:</a:t>
            </a:r>
          </a:p>
          <a:p>
            <a:pPr lvl="1"/>
            <a:r>
              <a:rPr sz="1600">
                <a:solidFill>
                  <a:srgbClr val="333333"/>
                </a:solidFill>
              </a:rPr>
              <a:t>   – 1. Writer raises the "writer active" flag.</a:t>
            </a:r>
          </a:p>
          <a:p>
            <a:pPr lvl="1"/>
            <a:r>
              <a:rPr sz="1600">
                <a:solidFill>
                  <a:srgbClr val="333333"/>
                </a:solidFill>
              </a:rPr>
              <a:t>   – 2. Every concurrent reader sees the flag, retracts from its slot, and starts spinning.</a:t>
            </a:r>
          </a:p>
          <a:p>
            <a:pPr lvl="1"/>
            <a:r>
              <a:rPr sz="1600">
                <a:solidFill>
                  <a:srgbClr val="333333"/>
                </a:solidFill>
              </a:rPr>
              <a:t>   – 3. Writer begins scanning the 64 slots, waiting for them all to drain to zero.</a:t>
            </a:r>
          </a:p>
          <a:p>
            <a:pPr lvl="1"/>
            <a:r>
              <a:rPr sz="1600">
                <a:solidFill>
                  <a:srgbClr val="333333"/>
                </a:solidFill>
              </a:rPr>
              <a:t>   – 4. As readers retract, the writer's scan sees zeros: but readers that already finished retracting are now retrying and stamping their slots back to 1. The scan never sees a quiet moment.</a:t>
            </a:r>
          </a:p>
          <a:p>
            <a:pPr lvl="1"/>
            <a:r>
              <a:rPr sz="1600">
                <a:solidFill>
                  <a:srgbClr val="333333"/>
                </a:solidFill>
              </a:rPr>
              <a:t>   – 5. Writer eventually completes the scan, does its work, clears the flag.</a:t>
            </a:r>
          </a:p>
          <a:p>
            <a:pPr lvl="1"/>
            <a:r>
              <a:rPr sz="1600">
                <a:solidFill>
                  <a:srgbClr val="333333"/>
                </a:solidFill>
              </a:rPr>
              <a:t>   – 6. Every spinning reader sees the flag clear simultaneously and stampedes back. They all retry within nanoseconds of each other: the writer sees a full house of readers on its next arrival.</a:t>
            </a:r>
          </a:p>
          <a:p>
            <a:pPr lvl="1"/>
            <a:r>
              <a:rPr sz="1600">
                <a:solidFill>
                  <a:srgbClr val="333333"/>
                </a:solidFill>
              </a:rPr>
              <a:t>   – 7. Next writer arrives. Loop.</a:t>
            </a:r>
          </a:p>
          <a:p>
            <a:r>
              <a:rPr sz="2000"/>
              <a:t>• The system is now in an oscillation: writers and readers alternating in lockstep, with very little useful work done in either phase. Throughput collapses to roughly (writer arrival rate x writer critical-section time), which is far below the parallel-reader rate the design promised.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Why this is WORSE on Graviton2: the central novel finding</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The oscillation depends critically on the readers all retrying at the same moment. The more synchronised they are, the more readers the writer sees on every cycle, and the worse the herd.</a:t>
            </a:r>
          </a:p>
          <a:p>
            <a:r>
              <a:rPr sz="2000"/>
              <a:t>• The synchronisation comes from how fast the atomic operations are:</a:t>
            </a:r>
          </a:p>
          <a:p>
            <a:pPr lvl="1"/>
            <a:r>
              <a:rPr sz="1600">
                <a:solidFill>
                  <a:srgbClr val="333333"/>
                </a:solidFill>
              </a:rPr>
              <a:t>   – Modern ARM (Graviton2) uses single-instruction atomic operations introduced in ARMv8.1: roughly 2-3x faster than the equivalent on a 2014-era Xeon.</a:t>
            </a:r>
          </a:p>
          <a:p>
            <a:pPr lvl="1"/>
            <a:r>
              <a:rPr sz="1600">
                <a:solidFill>
                  <a:srgbClr val="333333"/>
                </a:solidFill>
              </a:rPr>
              <a:t>   – On Graviton, when the writer's flag clears, all 8 readers complete their retry within ~10 ns of each other: perfectly synchronised stampede.</a:t>
            </a:r>
          </a:p>
          <a:p>
            <a:pPr lvl="1"/>
            <a:r>
              <a:rPr sz="1600">
                <a:solidFill>
                  <a:srgbClr val="333333"/>
                </a:solidFill>
              </a:rPr>
              <a:t>   – On Xeon, the same retry is slower, so the readers spread out over ~40 ns. The writer often finishes before the last reader has even stamped its slot. The herd is partially dispersed.</a:t>
            </a:r>
          </a:p>
          <a:p>
            <a:r>
              <a:rPr sz="2000"/>
              <a:t>• Punchline: the Xeon's slower atomic operations ACCIDENTALLY THROTTLE THE HERD. The bug is timing-sensitive to atomic speed.</a:t>
            </a:r>
          </a:p>
          <a:p>
            <a:r>
              <a:rPr sz="2000"/>
              <a:t>• This is the most novel finding in the project: hardware modernisation can expose latent timing bugs that were dormant on older silicon. As far as I can tell, the literature does not document this specific failure mode as a function of atomic speed.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Fix design: change the handshake, not the data layout</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The Linux kernel solved this same problem in their per-CPU reader-writer semaphore (percpu_rwsem). The principle:</a:t>
            </a:r>
          </a:p>
          <a:p>
            <a:pPr lvl="1"/>
            <a:r>
              <a:rPr sz="1600">
                <a:solidFill>
                  <a:srgbClr val="333333"/>
                </a:solidFill>
              </a:rPr>
              <a:t>   – Readers commit and proceed. They do NOT back off when a writer arrives.</a:t>
            </a:r>
          </a:p>
          <a:p>
            <a:pPr lvl="1"/>
            <a:r>
              <a:rPr sz="1600">
                <a:solidFill>
                  <a:srgbClr val="333333"/>
                </a:solidFill>
              </a:rPr>
              <a:t>   – Writers queue on a separate slow-path mutex (only one writer at a time).</a:t>
            </a:r>
          </a:p>
          <a:p>
            <a:pPr lvl="1"/>
            <a:r>
              <a:rPr sz="1600">
                <a:solidFill>
                  <a:srgbClr val="333333"/>
                </a:solidFill>
              </a:rPr>
              <a:t>   – Writers wait for already-in-flight readers to finish their critical sections naturally.</a:t>
            </a:r>
          </a:p>
          <a:p>
            <a:pPr lvl="1"/>
            <a:r>
              <a:rPr sz="1600">
                <a:solidFill>
                  <a:srgbClr val="333333"/>
                </a:solidFill>
              </a:rPr>
              <a:t>   – New readers arriving while a writer is queued route briefly through the same slow-path mutex (then proceed). No retraction, no spinning.</a:t>
            </a:r>
          </a:p>
          <a:p>
            <a:r>
              <a:rPr sz="2000"/>
              <a:t>• Crucial property: when a writer arrives, readers caught mid-acquire FINISH their critical section instead of backing off.</a:t>
            </a:r>
          </a:p>
          <a:p>
            <a:r>
              <a:rPr sz="2000"/>
              <a:t>• No reader ever retracts -&gt; no synchronised retry -&gt; no herd.</a:t>
            </a:r>
          </a:p>
          <a:p>
            <a:r>
              <a:rPr sz="2000"/>
              <a:t>• Trade-off: an extra branch on the reader fast path (to check whether a writer is queued) costs about 5 % at single-thread. Writers now serialise on the slow-path mutex, but there's only one writer per epoch anyway in any reasonable workload.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v2: what changed vs what stayed the same</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Kept exactly:</a:t>
            </a:r>
          </a:p>
          <a:p>
            <a:pPr lvl="1"/>
            <a:r>
              <a:rPr sz="1600">
                <a:solidFill>
                  <a:srgbClr val="333333"/>
                </a:solidFill>
              </a:rPr>
              <a:t>   – 64 per-thread slots, one cache line each. The data layout was right all along.</a:t>
            </a:r>
          </a:p>
          <a:p>
            <a:pPr lvl="1"/>
            <a:r>
              <a:rPr sz="1600">
                <a:solidFill>
                  <a:srgbClr val="333333"/>
                </a:solidFill>
              </a:rPr>
              <a:t>   – The thread-to-slot assignment scheme.</a:t>
            </a:r>
          </a:p>
          <a:p>
            <a:r>
              <a:rPr sz="2000"/>
              <a:t>• Changed:</a:t>
            </a:r>
          </a:p>
          <a:p>
            <a:pPr lvl="1"/>
            <a:r>
              <a:rPr sz="1600">
                <a:solidFill>
                  <a:srgbClr val="333333"/>
                </a:solidFill>
              </a:rPr>
              <a:t>   – Added a slow-path mutex on the writer side, so writers queue rather than race.</a:t>
            </a:r>
          </a:p>
          <a:p>
            <a:pPr lvl="1"/>
            <a:r>
              <a:rPr sz="1600">
                <a:solidFill>
                  <a:srgbClr val="333333"/>
                </a:solidFill>
              </a:rPr>
              <a:t>   – Added a "writer-queued" signal separate from the original "writer-active" flag.</a:t>
            </a:r>
          </a:p>
          <a:p>
            <a:pPr lvl="1"/>
            <a:r>
              <a:rPr sz="1600">
                <a:solidFill>
                  <a:srgbClr val="333333"/>
                </a:solidFill>
              </a:rPr>
              <a:t>   – Readers now check the new signal: if set, briefly take the slow-path mutex and release it (this lets the writer proceed); otherwise proceed normally.</a:t>
            </a:r>
          </a:p>
          <a:p>
            <a:pPr lvl="1"/>
            <a:r>
              <a:rPr sz="1600">
                <a:solidFill>
                  <a:srgbClr val="333333"/>
                </a:solidFill>
              </a:rPr>
              <a:t>   – Writers no longer ask readers to back off; they wait for in-flight readers to finish naturally.</a:t>
            </a:r>
          </a:p>
          <a:p>
            <a:r>
              <a:rPr sz="2000"/>
              <a:t>• 1-thread cost vs v1: about 5 % regression. The trade is obviously correct.</a:t>
            </a:r>
          </a:p>
          <a:p>
            <a:r>
              <a:rPr sz="2000"/>
              <a:t>• Correctness validated with race tests: 8 threads x 20 000 mixed read/write operations, both mutual-exclusion and torn-read scenarios.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v2 eliminates the collapse: Graviton2 validation</a:t>
            </a:r>
          </a:p>
        </p:txBody>
      </p:sp>
      <p:pic>
        <p:nvPicPr>
          <p:cNvPr id="3" name="Picture 2" descr="f5_pcpu_v1_vs_v2.png"/>
          <p:cNvPicPr>
            <a:picLocks noChangeAspect="1"/>
          </p:cNvPicPr>
          <p:nvPr/>
        </p:nvPicPr>
        <p:blipFill>
          <a:blip r:embed="rId2"/>
          <a:stretch>
            <a:fillRect/>
          </a:stretch>
        </p:blipFill>
        <p:spPr>
          <a:xfrm>
            <a:off x="594360" y="1143000"/>
            <a:ext cx="10972800" cy="5089046"/>
          </a:xfrm>
          <a:prstGeom prst="rect">
            <a:avLst/>
          </a:prstGeom>
        </p:spPr>
      </p:pic>
      <p:sp>
        <p:nvSpPr>
          <p:cNvPr id="4" name="TextBox 3"/>
          <p:cNvSpPr txBox="1"/>
          <p:nvPr/>
        </p:nvSpPr>
        <p:spPr>
          <a:xfrm>
            <a:off x="548640" y="6400800"/>
            <a:ext cx="10972800" cy="365760"/>
          </a:xfrm>
          <a:prstGeom prst="rect">
            <a:avLst/>
          </a:prstGeom>
          <a:noFill/>
        </p:spPr>
        <p:txBody>
          <a:bodyPr wrap="none">
            <a:spAutoFit/>
          </a:bodyPr>
          <a:lstStyle/>
          <a:p>
            <a:pPr algn="ctr"/>
            <a:r>
              <a:rPr sz="1200">
                <a:solidFill>
                  <a:srgbClr val="555555"/>
                </a:solidFill>
              </a:rPr>
              <a:t>All curves on the same workload: wormhole, Graviton2, L1-resident (1k keys), Zipfian θ=0.99, 90% read / 5% insert / 5% remove.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v1 vs v2 head-to-head (Graviton2, 90/5/5, L1_warm_zipf99)</a:t>
            </a:r>
          </a:p>
        </p:txBody>
      </p:sp>
      <p:graphicFrame>
        <p:nvGraphicFramePr>
          <p:cNvPr id="3" name="Table 2"/>
          <p:cNvGraphicFramePr>
            <a:graphicFrameLocks noGrp="1"/>
          </p:cNvGraphicFramePr>
          <p:nvPr/>
        </p:nvGraphicFramePr>
        <p:xfrm>
          <a:off x="548640" y="1371600"/>
          <a:ext cx="10241280" cy="365760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2194560">
                  <a:extLst>
                    <a:ext uri="{9D8B030D-6E8A-4147-A177-3AD203B41FA5}">
                      <a16:colId xmlns:a16="http://schemas.microsoft.com/office/drawing/2014/main" val="20005"/>
                    </a:ext>
                  </a:extLst>
                </a:gridCol>
              </a:tblGrid>
              <a:tr h="457200">
                <a:tc>
                  <a:txBody>
                    <a:bodyPr/>
                    <a:lstStyle/>
                    <a:p>
                      <a:r>
                        <a:rPr sz="1400" b="1"/>
                        <a:t>threads</a:t>
                      </a:r>
                    </a:p>
                  </a:txBody>
                  <a:tcPr/>
                </a:tc>
                <a:tc>
                  <a:txBody>
                    <a:bodyPr/>
                    <a:lstStyle/>
                    <a:p>
                      <a:r>
                        <a:rPr sz="1400" b="1"/>
                        <a:t>v1 median (M/s)</a:t>
                      </a:r>
                    </a:p>
                  </a:txBody>
                  <a:tcPr/>
                </a:tc>
                <a:tc>
                  <a:txBody>
                    <a:bodyPr/>
                    <a:lstStyle/>
                    <a:p>
                      <a:r>
                        <a:rPr sz="1400" b="1"/>
                        <a:t>v2 median (M/s)</a:t>
                      </a:r>
                    </a:p>
                  </a:txBody>
                  <a:tcPr/>
                </a:tc>
                <a:tc>
                  <a:txBody>
                    <a:bodyPr/>
                    <a:lstStyle/>
                    <a:p>
                      <a:r>
                        <a:rPr sz="1400" b="1"/>
                        <a:t>v2 / v1</a:t>
                      </a:r>
                    </a:p>
                  </a:txBody>
                  <a:tcPr/>
                </a:tc>
                <a:tc>
                  <a:txBody>
                    <a:bodyPr/>
                    <a:lstStyle/>
                    <a:p>
                      <a:r>
                        <a:rPr sz="1400" b="1"/>
                        <a:t>v1 trial spread</a:t>
                      </a:r>
                    </a:p>
                  </a:txBody>
                  <a:tcPr/>
                </a:tc>
                <a:tc>
                  <a:txBody>
                    <a:bodyPr/>
                    <a:lstStyle/>
                    <a:p>
                      <a:r>
                        <a:rPr sz="1400" b="1"/>
                        <a:t>v2 trial spread</a:t>
                      </a:r>
                    </a:p>
                  </a:txBody>
                  <a:tcPr/>
                </a:tc>
                <a:extLst>
                  <a:ext uri="{0D108BD9-81ED-4DB2-BD59-A6C34878D82A}">
                    <a16:rowId xmlns:a16="http://schemas.microsoft.com/office/drawing/2014/main" val="10000"/>
                  </a:ext>
                </a:extLst>
              </a:tr>
              <a:tr h="457200">
                <a:tc>
                  <a:txBody>
                    <a:bodyPr/>
                    <a:lstStyle/>
                    <a:p>
                      <a:r>
                        <a:rPr sz="1300"/>
                        <a:t>1</a:t>
                      </a:r>
                    </a:p>
                  </a:txBody>
                  <a:tcPr/>
                </a:tc>
                <a:tc>
                  <a:txBody>
                    <a:bodyPr/>
                    <a:lstStyle/>
                    <a:p>
                      <a:r>
                        <a:rPr sz="1300"/>
                        <a:t>17.32</a:t>
                      </a:r>
                    </a:p>
                  </a:txBody>
                  <a:tcPr/>
                </a:tc>
                <a:tc>
                  <a:txBody>
                    <a:bodyPr/>
                    <a:lstStyle/>
                    <a:p>
                      <a:r>
                        <a:rPr sz="1300"/>
                        <a:t>16.48</a:t>
                      </a:r>
                    </a:p>
                  </a:txBody>
                  <a:tcPr/>
                </a:tc>
                <a:tc>
                  <a:txBody>
                    <a:bodyPr/>
                    <a:lstStyle/>
                    <a:p>
                      <a:r>
                        <a:rPr sz="1300"/>
                        <a:t>0.95x</a:t>
                      </a:r>
                    </a:p>
                  </a:txBody>
                  <a:tcPr/>
                </a:tc>
                <a:tc>
                  <a:txBody>
                    <a:bodyPr/>
                    <a:lstStyle/>
                    <a:p>
                      <a:r>
                        <a:rPr sz="1300"/>
                        <a:t>tight</a:t>
                      </a:r>
                    </a:p>
                  </a:txBody>
                  <a:tcPr/>
                </a:tc>
                <a:tc>
                  <a:txBody>
                    <a:bodyPr/>
                    <a:lstStyle/>
                    <a:p>
                      <a:r>
                        <a:rPr sz="1300"/>
                        <a:t>tight</a:t>
                      </a:r>
                    </a:p>
                  </a:txBody>
                  <a:tcPr/>
                </a:tc>
                <a:extLst>
                  <a:ext uri="{0D108BD9-81ED-4DB2-BD59-A6C34878D82A}">
                    <a16:rowId xmlns:a16="http://schemas.microsoft.com/office/drawing/2014/main" val="10001"/>
                  </a:ext>
                </a:extLst>
              </a:tr>
              <a:tr h="457200">
                <a:tc>
                  <a:txBody>
                    <a:bodyPr/>
                    <a:lstStyle/>
                    <a:p>
                      <a:r>
                        <a:rPr sz="1300"/>
                        <a:t>2</a:t>
                      </a:r>
                    </a:p>
                  </a:txBody>
                  <a:tcPr/>
                </a:tc>
                <a:tc>
                  <a:txBody>
                    <a:bodyPr/>
                    <a:lstStyle/>
                    <a:p>
                      <a:r>
                        <a:rPr sz="1300"/>
                        <a:t>17.67</a:t>
                      </a:r>
                    </a:p>
                  </a:txBody>
                  <a:tcPr/>
                </a:tc>
                <a:tc>
                  <a:txBody>
                    <a:bodyPr/>
                    <a:lstStyle/>
                    <a:p>
                      <a:r>
                        <a:rPr sz="1300"/>
                        <a:t>21.01</a:t>
                      </a:r>
                    </a:p>
                  </a:txBody>
                  <a:tcPr/>
                </a:tc>
                <a:tc>
                  <a:txBody>
                    <a:bodyPr/>
                    <a:lstStyle/>
                    <a:p>
                      <a:r>
                        <a:rPr sz="1300"/>
                        <a:t>1.19x</a:t>
                      </a:r>
                    </a:p>
                  </a:txBody>
                  <a:tcPr/>
                </a:tc>
                <a:tc>
                  <a:txBody>
                    <a:bodyPr/>
                    <a:lstStyle/>
                    <a:p>
                      <a:r>
                        <a:rPr sz="1300"/>
                        <a:t>16 - 20 M</a:t>
                      </a:r>
                    </a:p>
                  </a:txBody>
                  <a:tcPr/>
                </a:tc>
                <a:tc>
                  <a:txBody>
                    <a:bodyPr/>
                    <a:lstStyle/>
                    <a:p>
                      <a:r>
                        <a:rPr sz="1300"/>
                        <a:t>tight</a:t>
                      </a:r>
                    </a:p>
                  </a:txBody>
                  <a:tcPr/>
                </a:tc>
                <a:extLst>
                  <a:ext uri="{0D108BD9-81ED-4DB2-BD59-A6C34878D82A}">
                    <a16:rowId xmlns:a16="http://schemas.microsoft.com/office/drawing/2014/main" val="10002"/>
                  </a:ext>
                </a:extLst>
              </a:tr>
              <a:tr h="457200">
                <a:tc>
                  <a:txBody>
                    <a:bodyPr/>
                    <a:lstStyle/>
                    <a:p>
                      <a:r>
                        <a:rPr sz="1300"/>
                        <a:t>3</a:t>
                      </a:r>
                    </a:p>
                  </a:txBody>
                  <a:tcPr/>
                </a:tc>
                <a:tc>
                  <a:txBody>
                    <a:bodyPr/>
                    <a:lstStyle/>
                    <a:p>
                      <a:r>
                        <a:rPr sz="1300"/>
                        <a:t>15.90</a:t>
                      </a:r>
                    </a:p>
                  </a:txBody>
                  <a:tcPr/>
                </a:tc>
                <a:tc>
                  <a:txBody>
                    <a:bodyPr/>
                    <a:lstStyle/>
                    <a:p>
                      <a:r>
                        <a:rPr sz="1300"/>
                        <a:t>26.46</a:t>
                      </a:r>
                    </a:p>
                  </a:txBody>
                  <a:tcPr/>
                </a:tc>
                <a:tc>
                  <a:txBody>
                    <a:bodyPr/>
                    <a:lstStyle/>
                    <a:p>
                      <a:r>
                        <a:rPr sz="1300"/>
                        <a:t>1.66x</a:t>
                      </a:r>
                    </a:p>
                  </a:txBody>
                  <a:tcPr/>
                </a:tc>
                <a:tc>
                  <a:txBody>
                    <a:bodyPr/>
                    <a:lstStyle/>
                    <a:p>
                      <a:r>
                        <a:rPr sz="1300"/>
                        <a:t>wide</a:t>
                      </a:r>
                    </a:p>
                  </a:txBody>
                  <a:tcPr/>
                </a:tc>
                <a:tc>
                  <a:txBody>
                    <a:bodyPr/>
                    <a:lstStyle/>
                    <a:p>
                      <a:r>
                        <a:rPr sz="1300"/>
                        <a:t>tight</a:t>
                      </a:r>
                    </a:p>
                  </a:txBody>
                  <a:tcPr/>
                </a:tc>
                <a:extLst>
                  <a:ext uri="{0D108BD9-81ED-4DB2-BD59-A6C34878D82A}">
                    <a16:rowId xmlns:a16="http://schemas.microsoft.com/office/drawing/2014/main" val="10003"/>
                  </a:ext>
                </a:extLst>
              </a:tr>
              <a:tr h="457200">
                <a:tc>
                  <a:txBody>
                    <a:bodyPr/>
                    <a:lstStyle/>
                    <a:p>
                      <a:r>
                        <a:rPr sz="1300"/>
                        <a:t>4</a:t>
                      </a:r>
                    </a:p>
                  </a:txBody>
                  <a:tcPr/>
                </a:tc>
                <a:tc>
                  <a:txBody>
                    <a:bodyPr/>
                    <a:lstStyle/>
                    <a:p>
                      <a:r>
                        <a:rPr sz="1300"/>
                        <a:t>4.90</a:t>
                      </a:r>
                    </a:p>
                  </a:txBody>
                  <a:tcPr/>
                </a:tc>
                <a:tc>
                  <a:txBody>
                    <a:bodyPr/>
                    <a:lstStyle/>
                    <a:p>
                      <a:r>
                        <a:rPr sz="1300"/>
                        <a:t>30.35</a:t>
                      </a:r>
                    </a:p>
                  </a:txBody>
                  <a:tcPr/>
                </a:tc>
                <a:tc>
                  <a:txBody>
                    <a:bodyPr/>
                    <a:lstStyle/>
                    <a:p>
                      <a:r>
                        <a:rPr sz="1300"/>
                        <a:t>6.20x</a:t>
                      </a:r>
                    </a:p>
                  </a:txBody>
                  <a:tcPr/>
                </a:tc>
                <a:tc>
                  <a:txBody>
                    <a:bodyPr/>
                    <a:lstStyle/>
                    <a:p>
                      <a:r>
                        <a:rPr sz="1300"/>
                        <a:t>2 - 6 M (3x)</a:t>
                      </a:r>
                    </a:p>
                  </a:txBody>
                  <a:tcPr/>
                </a:tc>
                <a:tc>
                  <a:txBody>
                    <a:bodyPr/>
                    <a:lstStyle/>
                    <a:p>
                      <a:r>
                        <a:rPr sz="1300"/>
                        <a:t>29 - 31 M (tight)</a:t>
                      </a:r>
                    </a:p>
                  </a:txBody>
                  <a:tcPr/>
                </a:tc>
                <a:extLst>
                  <a:ext uri="{0D108BD9-81ED-4DB2-BD59-A6C34878D82A}">
                    <a16:rowId xmlns:a16="http://schemas.microsoft.com/office/drawing/2014/main" val="10004"/>
                  </a:ext>
                </a:extLst>
              </a:tr>
              <a:tr h="457200">
                <a:tc>
                  <a:txBody>
                    <a:bodyPr/>
                    <a:lstStyle/>
                    <a:p>
                      <a:r>
                        <a:rPr sz="1300"/>
                        <a:t>5</a:t>
                      </a:r>
                    </a:p>
                  </a:txBody>
                  <a:tcPr/>
                </a:tc>
                <a:tc>
                  <a:txBody>
                    <a:bodyPr/>
                    <a:lstStyle/>
                    <a:p>
                      <a:r>
                        <a:rPr sz="1300"/>
                        <a:t>0.41</a:t>
                      </a:r>
                    </a:p>
                  </a:txBody>
                  <a:tcPr/>
                </a:tc>
                <a:tc>
                  <a:txBody>
                    <a:bodyPr/>
                    <a:lstStyle/>
                    <a:p>
                      <a:r>
                        <a:rPr sz="1300"/>
                        <a:t>31.60</a:t>
                      </a:r>
                    </a:p>
                  </a:txBody>
                  <a:tcPr/>
                </a:tc>
                <a:tc>
                  <a:txBody>
                    <a:bodyPr/>
                    <a:lstStyle/>
                    <a:p>
                      <a:r>
                        <a:rPr sz="1300"/>
                        <a:t>77x</a:t>
                      </a:r>
                    </a:p>
                  </a:txBody>
                  <a:tcPr/>
                </a:tc>
                <a:tc>
                  <a:txBody>
                    <a:bodyPr/>
                    <a:lstStyle/>
                    <a:p>
                      <a:r>
                        <a:rPr sz="1300"/>
                        <a:t>0.4 - 0.7 M</a:t>
                      </a:r>
                    </a:p>
                  </a:txBody>
                  <a:tcPr/>
                </a:tc>
                <a:tc>
                  <a:txBody>
                    <a:bodyPr/>
                    <a:lstStyle/>
                    <a:p>
                      <a:r>
                        <a:rPr sz="1300"/>
                        <a:t>tight</a:t>
                      </a:r>
                    </a:p>
                  </a:txBody>
                  <a:tcPr/>
                </a:tc>
                <a:extLst>
                  <a:ext uri="{0D108BD9-81ED-4DB2-BD59-A6C34878D82A}">
                    <a16:rowId xmlns:a16="http://schemas.microsoft.com/office/drawing/2014/main" val="10005"/>
                  </a:ext>
                </a:extLst>
              </a:tr>
              <a:tr h="457200">
                <a:tc>
                  <a:txBody>
                    <a:bodyPr/>
                    <a:lstStyle/>
                    <a:p>
                      <a:r>
                        <a:rPr sz="1300"/>
                        <a:t>6</a:t>
                      </a:r>
                    </a:p>
                  </a:txBody>
                  <a:tcPr/>
                </a:tc>
                <a:tc>
                  <a:txBody>
                    <a:bodyPr/>
                    <a:lstStyle/>
                    <a:p>
                      <a:r>
                        <a:rPr sz="1300"/>
                        <a:t>0.18</a:t>
                      </a:r>
                    </a:p>
                  </a:txBody>
                  <a:tcPr/>
                </a:tc>
                <a:tc>
                  <a:txBody>
                    <a:bodyPr/>
                    <a:lstStyle/>
                    <a:p>
                      <a:r>
                        <a:rPr sz="1300"/>
                        <a:t>28.84</a:t>
                      </a:r>
                    </a:p>
                  </a:txBody>
                  <a:tcPr/>
                </a:tc>
                <a:tc>
                  <a:txBody>
                    <a:bodyPr/>
                    <a:lstStyle/>
                    <a:p>
                      <a:r>
                        <a:rPr sz="1300"/>
                        <a:t>160x</a:t>
                      </a:r>
                    </a:p>
                  </a:txBody>
                  <a:tcPr/>
                </a:tc>
                <a:tc>
                  <a:txBody>
                    <a:bodyPr/>
                    <a:lstStyle/>
                    <a:p>
                      <a:r>
                        <a:rPr sz="1300"/>
                        <a:t>0.14 - 0.43 M</a:t>
                      </a:r>
                    </a:p>
                  </a:txBody>
                  <a:tcPr/>
                </a:tc>
                <a:tc>
                  <a:txBody>
                    <a:bodyPr/>
                    <a:lstStyle/>
                    <a:p>
                      <a:r>
                        <a:rPr sz="1300"/>
                        <a:t>tight</a:t>
                      </a:r>
                    </a:p>
                  </a:txBody>
                  <a:tcPr/>
                </a:tc>
                <a:extLst>
                  <a:ext uri="{0D108BD9-81ED-4DB2-BD59-A6C34878D82A}">
                    <a16:rowId xmlns:a16="http://schemas.microsoft.com/office/drawing/2014/main" val="10006"/>
                  </a:ext>
                </a:extLst>
              </a:tr>
              <a:tr h="457200">
                <a:tc>
                  <a:txBody>
                    <a:bodyPr/>
                    <a:lstStyle/>
                    <a:p>
                      <a:r>
                        <a:rPr sz="1300"/>
                        <a:t>8</a:t>
                      </a:r>
                    </a:p>
                  </a:txBody>
                  <a:tcPr/>
                </a:tc>
                <a:tc>
                  <a:txBody>
                    <a:bodyPr/>
                    <a:lstStyle/>
                    <a:p>
                      <a:r>
                        <a:rPr sz="1300"/>
                        <a:t>0.030</a:t>
                      </a:r>
                    </a:p>
                  </a:txBody>
                  <a:tcPr/>
                </a:tc>
                <a:tc>
                  <a:txBody>
                    <a:bodyPr/>
                    <a:lstStyle/>
                    <a:p>
                      <a:r>
                        <a:rPr sz="1300"/>
                        <a:t>16.00</a:t>
                      </a:r>
                    </a:p>
                  </a:txBody>
                  <a:tcPr/>
                </a:tc>
                <a:tc>
                  <a:txBody>
                    <a:bodyPr/>
                    <a:lstStyle/>
                    <a:p>
                      <a:r>
                        <a:rPr sz="1300"/>
                        <a:t>533x</a:t>
                      </a:r>
                    </a:p>
                  </a:txBody>
                  <a:tcPr/>
                </a:tc>
                <a:tc>
                  <a:txBody>
                    <a:bodyPr/>
                    <a:lstStyle/>
                    <a:p>
                      <a:r>
                        <a:rPr sz="1300"/>
                        <a:t>0.011 - 0.039 M</a:t>
                      </a:r>
                    </a:p>
                  </a:txBody>
                  <a:tcPr/>
                </a:tc>
                <a:tc>
                  <a:txBody>
                    <a:bodyPr/>
                    <a:lstStyle/>
                    <a:p>
                      <a:r>
                        <a:rPr sz="1300"/>
                        <a:t>14.6 - 16.9 M</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What the v2 numbers tell us</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1T regression of 5 % is real but small. The extra branch is the cost of correctness under contention.</a:t>
            </a:r>
          </a:p>
          <a:p>
            <a:r>
              <a:rPr sz="2000"/>
              <a:t>• v2 scales from 16.5 M at 1T to 31.6 M at 5T (1.92x scaling), then plateaus and gently descends through 8T (16.0 M).</a:t>
            </a:r>
          </a:p>
          <a:p>
            <a:r>
              <a:rPr sz="2000"/>
              <a:t>• Trial variance is gone: 8T v2 trials are 14.6 / 16.9 / 16.0. v1's 8T trials were 38 K / 32 K / 11 K: three orders of magnitude apart, non-deterministic.</a:t>
            </a:r>
          </a:p>
          <a:p>
            <a:r>
              <a:rPr sz="2000"/>
              <a:t>• The new bottleneck at 8 threads is a different one: writers serialise on the slow-path mutex. With 10 % writers and 8 threads competing, the writer side itself becomes saturated. Mild, manageable: and crucially, deterministic (no trial-to-trial variance).</a:t>
            </a:r>
          </a:p>
          <a:p>
            <a:r>
              <a:rPr sz="2000"/>
              <a:t>• At 8T v2 sits between wh-default (20.3 M/s) and the spinlocks (~14-15 M/s). Lock-free wh-occ-opt remains the runaway winner at 69.6 M/s.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Investigation loop closed: what was learned</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Diagnose -&gt; hypothesise -&gt; fix -&gt; validate. Six hypotheses tested in one day. Three discriminating diagnostics. One implementation. One validation sweep.</a:t>
            </a:r>
          </a:p>
          <a:p>
            <a:r>
              <a:rPr sz="2000"/>
              <a:t>• Three findings that the investigation produced:</a:t>
            </a:r>
          </a:p>
          <a:p>
            <a:pPr lvl="1"/>
            <a:r>
              <a:rPr sz="1600">
                <a:solidFill>
                  <a:srgbClr val="333333"/>
                </a:solidFill>
              </a:rPr>
              <a:t>   – (F1) Naive per-CPU rwlocks with retract-and-spin protocols fail catastrophically under any meaningful writer rate.</a:t>
            </a:r>
          </a:p>
          <a:p>
            <a:pPr lvl="1"/>
            <a:r>
              <a:rPr sz="1600">
                <a:solidFill>
                  <a:srgbClr val="333333"/>
                </a:solidFill>
              </a:rPr>
              <a:t>   – (F2) Wormhole's two-lock-per-op pattern amplifies primitive failures by ~86x. Lock primitives in concurrent indexes must be tested both in isolation AND in their target call pattern.</a:t>
            </a:r>
          </a:p>
          <a:p>
            <a:pPr lvl="1"/>
            <a:r>
              <a:rPr sz="1600">
                <a:solidFill>
                  <a:srgbClr val="333333"/>
                </a:solidFill>
              </a:rPr>
              <a:t>   – (F3) Faster atomics can make a fragile lock fail HARDER. The literature does not document this. Hardware modernisation can expose latent timing bugs.</a:t>
            </a:r>
          </a:p>
          <a:p>
            <a:r>
              <a:rPr sz="2000"/>
              <a:t>• The thesis story strengthens: naive per-CPU rwlock fails catastrophically; the percpu_rwsem-style fix restores it to mid-pack throughput; lock-free OCC reads remain the practical winner.</a:t>
            </a:r>
          </a:p>
          <a:p>
            <a:r>
              <a:rPr sz="2000"/>
              <a:t>• Both v1's failure and v2's recovery are publishable contributions. The investigation methodology itself is a contribution.</a:t>
            </a:r>
          </a:p>
          <a:p>
            <a:r>
              <a:rPr sz="2000"/>
              <a:t>• Full record: docs/INVESTIGATION_PCPU_RW.md (~18 KB journal, all diagnostics + analysis + fix design + validation).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7. How does the lock ranking change between platforms?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Wormhole: lock ranking on Xeon vs Graviton2</a:t>
            </a:r>
          </a:p>
        </p:txBody>
      </p:sp>
      <p:pic>
        <p:nvPicPr>
          <p:cNvPr id="3" name="Picture 2" descr="f10_rank_wh_L1warm.png"/>
          <p:cNvPicPr>
            <a:picLocks noChangeAspect="1"/>
          </p:cNvPicPr>
          <p:nvPr/>
        </p:nvPicPr>
        <p:blipFill>
          <a:blip r:embed="rId2"/>
          <a:stretch>
            <a:fillRect/>
          </a:stretch>
        </p:blipFill>
        <p:spPr>
          <a:xfrm>
            <a:off x="1537131" y="1143000"/>
            <a:ext cx="9114689" cy="5212080"/>
          </a:xfrm>
          <a:prstGeom prst="rect">
            <a:avLst/>
          </a:prstGeom>
        </p:spPr>
      </p:pic>
      <p:sp>
        <p:nvSpPr>
          <p:cNvPr id="4" name="TextBox 3"/>
          <p:cNvSpPr txBox="1"/>
          <p:nvPr/>
        </p:nvSpPr>
        <p:spPr>
          <a:xfrm>
            <a:off x="548640" y="6400800"/>
            <a:ext cx="10972800" cy="365760"/>
          </a:xfrm>
          <a:prstGeom prst="rect">
            <a:avLst/>
          </a:prstGeom>
          <a:noFill/>
        </p:spPr>
        <p:txBody>
          <a:bodyPr wrap="none">
            <a:spAutoFit/>
          </a:bodyPr>
          <a:lstStyle/>
          <a:p>
            <a:pPr algn="ctr"/>
            <a:r>
              <a:rPr sz="1200">
                <a:solidFill>
                  <a:srgbClr val="555555"/>
                </a:solidFill>
              </a:rPr>
              <a:t>Each line is one lock. Bold = rank changed across platforms. Workload: L1-resident, warm zipf, 90/5/5.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Wormhole at L3: the cache regime changes the ranking</a:t>
            </a:r>
          </a:p>
        </p:txBody>
      </p:sp>
      <p:pic>
        <p:nvPicPr>
          <p:cNvPr id="3" name="Picture 2" descr="f11_rank_wh_L3warm.png"/>
          <p:cNvPicPr>
            <a:picLocks noChangeAspect="1"/>
          </p:cNvPicPr>
          <p:nvPr/>
        </p:nvPicPr>
        <p:blipFill>
          <a:blip r:embed="rId2"/>
          <a:stretch>
            <a:fillRect/>
          </a:stretch>
        </p:blipFill>
        <p:spPr>
          <a:xfrm>
            <a:off x="1585511" y="1143000"/>
            <a:ext cx="9017930" cy="5212080"/>
          </a:xfrm>
          <a:prstGeom prst="rect">
            <a:avLst/>
          </a:prstGeom>
        </p:spPr>
      </p:pic>
      <p:sp>
        <p:nvSpPr>
          <p:cNvPr id="4" name="TextBox 3"/>
          <p:cNvSpPr txBox="1"/>
          <p:nvPr/>
        </p:nvSpPr>
        <p:spPr>
          <a:xfrm>
            <a:off x="548640" y="6400800"/>
            <a:ext cx="10972800" cy="365760"/>
          </a:xfrm>
          <a:prstGeom prst="rect">
            <a:avLst/>
          </a:prstGeom>
          <a:noFill/>
        </p:spPr>
        <p:txBody>
          <a:bodyPr wrap="none">
            <a:spAutoFit/>
          </a:bodyPr>
          <a:lstStyle/>
          <a:p>
            <a:pPr algn="ctr"/>
            <a:r>
              <a:rPr sz="1200">
                <a:solidFill>
                  <a:srgbClr val="555555"/>
                </a:solidFill>
              </a:rPr>
              <a:t>Same locks, same arches, larger index (100k keys, spills to L3). New cross-arch behaviour at the bottom of the table.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Wormhole L1 vs L3: a second axis of rank movement</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Moving from L1 (1k keys) to L3 (100k keys) on the SAME architecture also reshuffles the ranking:</a:t>
            </a:r>
          </a:p>
          <a:p>
            <a:pPr lvl="1"/>
            <a:r>
              <a:rPr sz="1600">
                <a:solidFill>
                  <a:srgbClr val="333333"/>
                </a:solidFill>
              </a:rPr>
              <a:t>   – default falls from #2 (L1) to #6 (L3) on Graviton: the contended-counter rwlock's cache-line bouncing combines with the L3 miss cost, more than the spinlocks' atomic cost does.</a:t>
            </a:r>
          </a:p>
          <a:p>
            <a:pPr lvl="1"/>
            <a:r>
              <a:rPr sz="1600">
                <a:solidFill>
                  <a:srgbClr val="333333"/>
                </a:solidFill>
              </a:rPr>
              <a:t>   – Spinlocks (tas/ttas/cas) climb to #2-#4 on Graviton in L3: their per-op atomic cost is now masked by the leaf-fetch latency from L3, so they look relatively better.</a:t>
            </a:r>
          </a:p>
          <a:p>
            <a:r>
              <a:rPr sz="2000"/>
              <a:t>• Cross-platform takeaway: a lock's rank depends on TWO factors, not just one:</a:t>
            </a:r>
          </a:p>
          <a:p>
            <a:pPr lvl="1"/>
            <a:r>
              <a:rPr sz="1600">
                <a:solidFill>
                  <a:srgbClr val="333333"/>
                </a:solidFill>
              </a:rPr>
              <a:t>   – How much work the lock's fast path does per acquire (atomic cost).</a:t>
            </a:r>
          </a:p>
          <a:p>
            <a:pPr lvl="1"/>
            <a:r>
              <a:rPr sz="1600">
                <a:solidFill>
                  <a:srgbClr val="333333"/>
                </a:solidFill>
              </a:rPr>
              <a:t>   – How much memory latency the surrounding operation pays (cache regime).</a:t>
            </a:r>
          </a:p>
          <a:p>
            <a:r>
              <a:rPr sz="2000"/>
              <a:t>• Both axes interact differently with each arch.</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StripedMap: lock ranking on Xeon vs Graviton2</a:t>
            </a:r>
          </a:p>
        </p:txBody>
      </p:sp>
      <p:pic>
        <p:nvPicPr>
          <p:cNvPr id="3" name="Picture 2" descr="f12_rank_cds_L1warm.png"/>
          <p:cNvPicPr>
            <a:picLocks noChangeAspect="1"/>
          </p:cNvPicPr>
          <p:nvPr/>
        </p:nvPicPr>
        <p:blipFill>
          <a:blip r:embed="rId2"/>
          <a:stretch>
            <a:fillRect/>
          </a:stretch>
        </p:blipFill>
        <p:spPr>
          <a:xfrm>
            <a:off x="818925" y="1143000"/>
            <a:ext cx="10551102" cy="5212080"/>
          </a:xfrm>
          <a:prstGeom prst="rect">
            <a:avLst/>
          </a:prstGeom>
        </p:spPr>
      </p:pic>
      <p:sp>
        <p:nvSpPr>
          <p:cNvPr id="4" name="TextBox 3"/>
          <p:cNvSpPr txBox="1"/>
          <p:nvPr/>
        </p:nvSpPr>
        <p:spPr>
          <a:xfrm>
            <a:off x="548640" y="6400800"/>
            <a:ext cx="10972800" cy="365760"/>
          </a:xfrm>
          <a:prstGeom prst="rect">
            <a:avLst/>
          </a:prstGeom>
          <a:noFill/>
        </p:spPr>
        <p:txBody>
          <a:bodyPr wrap="none">
            <a:spAutoFit/>
          </a:bodyPr>
          <a:lstStyle/>
          <a:p>
            <a:pPr algn="ctr"/>
            <a:r>
              <a:rPr sz="1200">
                <a:solidFill>
                  <a:srgbClr val="555555"/>
                </a:solidFill>
              </a:rPr>
              <a:t>Hash table with one lock per stripe. Workload: L1-resident, warm zipf, 90/5/5.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BronsonAVL: lock ranking on Xeon vs Graviton2</a:t>
            </a:r>
          </a:p>
        </p:txBody>
      </p:sp>
      <p:pic>
        <p:nvPicPr>
          <p:cNvPr id="3" name="Picture 2" descr="f13_rank_avl_L1warm.png"/>
          <p:cNvPicPr>
            <a:picLocks noChangeAspect="1"/>
          </p:cNvPicPr>
          <p:nvPr/>
        </p:nvPicPr>
        <p:blipFill>
          <a:blip r:embed="rId2"/>
          <a:stretch>
            <a:fillRect/>
          </a:stretch>
        </p:blipFill>
        <p:spPr>
          <a:xfrm>
            <a:off x="818925" y="1143000"/>
            <a:ext cx="10551102" cy="5212080"/>
          </a:xfrm>
          <a:prstGeom prst="rect">
            <a:avLst/>
          </a:prstGeom>
        </p:spPr>
      </p:pic>
      <p:sp>
        <p:nvSpPr>
          <p:cNvPr id="4" name="TextBox 3"/>
          <p:cNvSpPr txBox="1"/>
          <p:nvPr/>
        </p:nvSpPr>
        <p:spPr>
          <a:xfrm>
            <a:off x="548640" y="6400800"/>
            <a:ext cx="10972800" cy="365760"/>
          </a:xfrm>
          <a:prstGeom prst="rect">
            <a:avLst/>
          </a:prstGeom>
          <a:noFill/>
        </p:spPr>
        <p:txBody>
          <a:bodyPr wrap="none">
            <a:spAutoFit/>
          </a:bodyPr>
          <a:lstStyle/>
          <a:p>
            <a:pPr algn="ctr"/>
            <a:r>
              <a:rPr sz="1200">
                <a:solidFill>
                  <a:srgbClr val="555555"/>
                </a:solidFill>
              </a:rPr>
              <a:t>Per-node lock on a tree. Workload: L1-resident, warm zipf, 90/5/5.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Same patterns across all 12 workloads: rank change heatmap</a:t>
            </a:r>
          </a:p>
        </p:txBody>
      </p:sp>
      <p:pic>
        <p:nvPicPr>
          <p:cNvPr id="3" name="Picture 2" descr="f14_rank_change_heatmap.png"/>
          <p:cNvPicPr>
            <a:picLocks noChangeAspect="1"/>
          </p:cNvPicPr>
          <p:nvPr/>
        </p:nvPicPr>
        <p:blipFill>
          <a:blip r:embed="rId2"/>
          <a:stretch>
            <a:fillRect/>
          </a:stretch>
        </p:blipFill>
        <p:spPr>
          <a:xfrm>
            <a:off x="1261774" y="1143000"/>
            <a:ext cx="9665403" cy="5212080"/>
          </a:xfrm>
          <a:prstGeom prst="rect">
            <a:avLst/>
          </a:prstGeom>
        </p:spPr>
      </p:pic>
      <p:sp>
        <p:nvSpPr>
          <p:cNvPr id="4" name="TextBox 3"/>
          <p:cNvSpPr txBox="1"/>
          <p:nvPr/>
        </p:nvSpPr>
        <p:spPr>
          <a:xfrm>
            <a:off x="548640" y="6400800"/>
            <a:ext cx="10972800" cy="365760"/>
          </a:xfrm>
          <a:prstGeom prst="rect">
            <a:avLst/>
          </a:prstGeom>
          <a:noFill/>
        </p:spPr>
        <p:txBody>
          <a:bodyPr wrap="none">
            <a:spAutoFit/>
          </a:bodyPr>
          <a:lstStyle/>
          <a:p>
            <a:pPr algn="ctr"/>
            <a:r>
              <a:rPr sz="1200">
                <a:solidFill>
                  <a:srgbClr val="555555"/>
                </a:solidFill>
              </a:rPr>
              <a:t>Blue = lock moved UP on Graviton. Red = lock moved DOWN. White = no rank change. Cell = (Graviton rank − Xeon rank).</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Three consistent patterns explain why ranks change</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Looking across all 12 workloads × 3 benches, the rank changes between arches follow three rules:</a:t>
            </a:r>
          </a:p>
          <a:p>
            <a:r>
              <a:rPr sz="2000"/>
              <a:t>• (1) Simple-atomic spinlocks move UP on Graviton.</a:t>
            </a:r>
          </a:p>
          <a:p>
            <a:pPr lvl="1"/>
            <a:r>
              <a:rPr sz="1600">
                <a:solidFill>
                  <a:srgbClr val="333333"/>
                </a:solidFill>
              </a:rPr>
              <a:t>   – tas and cas climb in nearly every cell (most blue, few exceptions).</a:t>
            </a:r>
          </a:p>
          <a:p>
            <a:pPr lvl="1"/>
            <a:r>
              <a:rPr sz="1600">
                <a:solidFill>
                  <a:srgbClr val="333333"/>
                </a:solidFill>
              </a:rPr>
              <a:t>   – Cause: ARMv8.1 LSE atomics replace LL/SC-style retry loops with single-instruction atomic operations (~2-3x faster cycles). Locks whose entire fast path IS one atomic benefit the most.</a:t>
            </a:r>
          </a:p>
          <a:p>
            <a:r>
              <a:rPr sz="2000"/>
              <a:t>• (2) Locks with extra ordering mechanism move DOWN on Graviton.</a:t>
            </a:r>
          </a:p>
          <a:p>
            <a:pPr lvl="1"/>
            <a:r>
              <a:rPr sz="1600">
                <a:solidFill>
                  <a:srgbClr val="333333"/>
                </a:solidFill>
              </a:rPr>
              <a:t>   – ticket falls in most read-heavy L1 cells (light red).</a:t>
            </a:r>
          </a:p>
          <a:p>
            <a:pPr lvl="1"/>
            <a:r>
              <a:rPr sz="1600">
                <a:solidFill>
                  <a:srgbClr val="333333"/>
                </a:solidFill>
              </a:rPr>
              <a:t>   – ttas falls in most cells (light red on cds, mixed on others).</a:t>
            </a:r>
          </a:p>
          <a:p>
            <a:pPr lvl="1"/>
            <a:r>
              <a:rPr sz="1600">
                <a:solidFill>
                  <a:srgbClr val="333333"/>
                </a:solidFill>
              </a:rPr>
              <a:t>   – Cause: ticket's FIFO turnstile serialises acquire order across acquirers. When atomics are slow (Xeon), the turnstile cost is dominated by the atomic itself. When atomics are fast (Graviton), the turnstile becomes the bottleneck.</a:t>
            </a:r>
          </a:p>
          <a:p>
            <a:r>
              <a:rPr sz="2000"/>
              <a:t>• (3) Cache-coherence-bound locks track the cache regime, not the lock's atomic cost.</a:t>
            </a:r>
          </a:p>
          <a:p>
            <a:pPr lvl="1"/>
            <a:r>
              <a:rPr sz="1600">
                <a:solidFill>
                  <a:srgbClr val="333333"/>
                </a:solidFill>
              </a:rPr>
              <a:t>   – wh-default falls hard on Graviton in L3 (+3, +4 cells in heatmap).</a:t>
            </a:r>
          </a:p>
          <a:p>
            <a:pPr lvl="1"/>
            <a:r>
              <a:rPr sz="1600">
                <a:solidFill>
                  <a:srgbClr val="333333"/>
                </a:solidFill>
              </a:rPr>
              <a:t>   – Cause: a contended counter line costs about the same per acquire on both arches; what changes is how much the SURROUNDING work hides that cost.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914400"/>
          </a:xfrm>
          <a:prstGeom prst="rect">
            <a:avLst/>
          </a:prstGeom>
          <a:noFill/>
        </p:spPr>
        <p:txBody>
          <a:bodyPr wrap="none">
            <a:spAutoFit/>
          </a:bodyPr>
          <a:lstStyle/>
          <a:p>
            <a:r>
              <a:rPr sz="2800" b="1"/>
              <a:t>What lock ranking changes tell us about cross-platform porting</a:t>
            </a:r>
          </a:p>
        </p:txBody>
      </p:sp>
      <p:sp>
        <p:nvSpPr>
          <p:cNvPr id="3" name="TextBox 2"/>
          <p:cNvSpPr txBox="1"/>
          <p:nvPr/>
        </p:nvSpPr>
        <p:spPr>
          <a:xfrm>
            <a:off x="548640" y="1188720"/>
            <a:ext cx="10972800" cy="5303520"/>
          </a:xfrm>
          <a:prstGeom prst="rect">
            <a:avLst/>
          </a:prstGeom>
          <a:noFill/>
        </p:spPr>
        <p:txBody>
          <a:bodyPr wrap="square">
            <a:spAutoFit/>
          </a:bodyPr>
          <a:lstStyle/>
          <a:p>
            <a:r>
              <a:rPr sz="2000"/>
              <a:t>• If you tuned your lock choice on Xeon, your choice will be wrong on Graviton (and vice versa) about half the time.</a:t>
            </a:r>
          </a:p>
          <a:p>
            <a:r>
              <a:rPr sz="2000"/>
              <a:t>• Specifically wrong:</a:t>
            </a:r>
          </a:p>
          <a:p>
            <a:pPr lvl="1"/>
            <a:r>
              <a:rPr sz="1600">
                <a:solidFill>
                  <a:srgbClr val="333333"/>
                </a:solidFill>
              </a:rPr>
              <a:t>   – If you chose ticket on Xeon for fairness: TAS will likely beat it on Graviton.</a:t>
            </a:r>
          </a:p>
          <a:p>
            <a:pPr lvl="1"/>
            <a:r>
              <a:rPr sz="1600">
                <a:solidFill>
                  <a:srgbClr val="333333"/>
                </a:solidFill>
              </a:rPr>
              <a:t>   – If you chose CAS on Xeon as a careful retry-friendly primitive: it may now be the BEST choice on Graviton.</a:t>
            </a:r>
          </a:p>
          <a:p>
            <a:pPr lvl="1"/>
            <a:r>
              <a:rPr sz="1600">
                <a:solidFill>
                  <a:srgbClr val="333333"/>
                </a:solidFill>
              </a:rPr>
              <a:t>   – If you chose a counter-based rwlock for L1-resident workloads: the same lock on L3-resident workloads on Graviton may collapse out of contention.</a:t>
            </a:r>
          </a:p>
          <a:p>
            <a:r>
              <a:rPr sz="2000"/>
              <a:t>• What survives the cross-platform port unchanged:</a:t>
            </a:r>
          </a:p>
          <a:p>
            <a:pPr lvl="1"/>
            <a:r>
              <a:rPr sz="1600">
                <a:solidFill>
                  <a:srgbClr val="333333"/>
                </a:solidFill>
              </a:rPr>
              <a:t>   – Lock-free read paths (occ-opt): platform-invariant #1.</a:t>
            </a:r>
          </a:p>
          <a:p>
            <a:pPr lvl="1"/>
            <a:r>
              <a:rPr sz="1600">
                <a:solidFill>
                  <a:srgbClr val="333333"/>
                </a:solidFill>
              </a:rPr>
              <a:t>   – pthread mutex (std): futex parking is platform-invariant.</a:t>
            </a:r>
          </a:p>
          <a:p>
            <a:pPr lvl="1"/>
            <a:r>
              <a:rPr sz="1600">
                <a:solidFill>
                  <a:srgbClr val="333333"/>
                </a:solidFill>
              </a:rPr>
              <a:t>   – Catastrophically-failing locks (pcpu-rw v1): bottom on both arches.</a:t>
            </a:r>
          </a:p>
          <a:p>
            <a:r>
              <a:rPr sz="2000"/>
              <a:t>• Bottom line: portable lock choice means choosing locks whose performance does NOT depend on per-op atomic cycle count. Lock-free design and kernel-park-based designs are the most portable.</a:t>
            </a:r>
          </a:p>
        </p:txBody>
      </p:sp>
      <p:sp>
        <p:nvSpPr>
          <p:cNvPr id="4" name="TextBox 3">
            <a:extLst>
              <a:ext uri="{FF2B5EF4-FFF2-40B4-BE49-F238E27FC236}">
                <a16:creationId xmlns:a16="http://schemas.microsoft.com/office/drawing/2014/main" id="{97069FAB-088A-E3D6-0D08-992FB367EAF1}"/>
              </a:ext>
            </a:extLst>
          </p:cNvPr>
          <p:cNvSpPr txBox="1"/>
          <p:nvPr/>
        </p:nvSpPr>
        <p:spPr>
          <a:xfrm>
            <a:off x="8712200" y="-1892300"/>
            <a:ext cx="184731" cy="369332"/>
          </a:xfrm>
          <a:prstGeom prst="rect">
            <a:avLst/>
          </a:prstGeom>
          <a:noFill/>
        </p:spPr>
        <p:txBody>
          <a:bodyPr wrap="none" rtlCol="0">
            <a:spAutoFit/>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4360</Words>
  <Application>Microsoft Macintosh PowerPoint</Application>
  <PresentationFormat>Custom</PresentationFormat>
  <Paragraphs>343</Paragraphs>
  <Slides>39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Andrei Pana</cp:lastModifiedBy>
  <cp:revision>3</cp:revision>
  <dcterms:created xsi:type="dcterms:W3CDTF">2013-01-27T09:14:16Z</dcterms:created>
  <dcterms:modified xsi:type="dcterms:W3CDTF">2026-05-11T13:20:17Z</dcterms:modified>
  <cp:category/>
</cp:coreProperties>
</file>